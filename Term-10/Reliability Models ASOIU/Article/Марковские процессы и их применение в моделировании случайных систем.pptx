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微软雅黑" panose="020B0503020204020204" pitchFamily="34" charset="-122"/>
      <p:regular r:id="rId14"/>
      <p:bold r:id="rId15"/>
    </p:embeddedFont>
    <p:embeddedFont>
      <p:font typeface="MiSans" pitchFamily="2" charset="-122"/>
      <p:regular r:id=""/>
    </p:embeddedFont>
    <p:embeddedFont>
      <p:font typeface="Quattrocento Sans" panose="020B0502050000020003" pitchFamily="34" charset="0"/>
      <p:regular r:id="rId16"/>
      <p:bold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08" d="100"/>
          <a:sy n="108" d="100"/>
        </p:scale>
        <p:origin x="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427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65D">
                  <a:alpha val="90000"/>
                </a:srgbClr>
              </a:gs>
              <a:gs pos="50000">
                <a:srgbClr val="2B6CB0">
                  <a:alpha val="80000"/>
                </a:srgbClr>
              </a:gs>
              <a:gs pos="100000">
                <a:srgbClr val="4299E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927059" y="1414463"/>
            <a:ext cx="4290884" cy="419100"/>
          </a:xfrm>
          <a:custGeom>
            <a:avLst/>
            <a:gdLst/>
            <a:ahLst/>
            <a:cxnLst/>
            <a:rect l="l" t="t" r="r" b="b"/>
            <a:pathLst>
              <a:path w="4290884" h="419100">
                <a:moveTo>
                  <a:pt x="144784" y="0"/>
                </a:moveTo>
                <a:lnTo>
                  <a:pt x="4146100" y="0"/>
                </a:lnTo>
                <a:cubicBezTo>
                  <a:pt x="4226009" y="0"/>
                  <a:pt x="4290884" y="93896"/>
                  <a:pt x="4290884" y="209550"/>
                </a:cubicBezTo>
                <a:lnTo>
                  <a:pt x="4290884" y="209550"/>
                </a:lnTo>
                <a:cubicBezTo>
                  <a:pt x="4290884" y="325204"/>
                  <a:pt x="4226009" y="419100"/>
                  <a:pt x="4146100" y="419100"/>
                </a:cubicBezTo>
                <a:lnTo>
                  <a:pt x="144784" y="419100"/>
                </a:lnTo>
                <a:cubicBezTo>
                  <a:pt x="6487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64876" y="0"/>
                  <a:pt x="144784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989436" y="1490663"/>
            <a:ext cx="42158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МОДЕЛИРОВАНИЕ НАДËЖНОСТИ АСОИУ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74006" y="2062163"/>
            <a:ext cx="90392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Марковские процессы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 их применение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81101" y="4005262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моделировании случайных систем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25733" y="51768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49247" y="0"/>
                  <a:pt x="42863" y="6385"/>
                  <a:pt x="42863" y="14288"/>
                </a:cubicBezTo>
                <a:lnTo>
                  <a:pt x="42863" y="28575"/>
                </a:ln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lnTo>
                  <a:pt x="0" y="78581"/>
                </a:lnTo>
                <a:lnTo>
                  <a:pt x="200025" y="78581"/>
                </a:ln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57163" y="28575"/>
                </a:lnTo>
                <a:lnTo>
                  <a:pt x="157163" y="14288"/>
                </a:lnTo>
                <a:cubicBezTo>
                  <a:pt x="157163" y="6385"/>
                  <a:pt x="150778" y="0"/>
                  <a:pt x="142875" y="0"/>
                </a:cubicBezTo>
                <a:cubicBezTo>
                  <a:pt x="134972" y="0"/>
                  <a:pt x="128588" y="6385"/>
                  <a:pt x="128588" y="14288"/>
                </a:cubicBezTo>
                <a:lnTo>
                  <a:pt x="128588" y="28575"/>
                </a:lnTo>
                <a:lnTo>
                  <a:pt x="71438" y="28575"/>
                </a:lnTo>
                <a:lnTo>
                  <a:pt x="71438" y="14288"/>
                </a:lnTo>
                <a:cubicBezTo>
                  <a:pt x="71438" y="6385"/>
                  <a:pt x="65053" y="0"/>
                  <a:pt x="57150" y="0"/>
                </a:cubicBezTo>
                <a:close/>
                <a:moveTo>
                  <a:pt x="0" y="100013"/>
                </a:move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381101" y="5157788"/>
            <a:ext cx="24596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ru-RU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МГТУ им. Н.Э. Баумана, </a:t>
            </a: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05995" y="5138738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77470" y="51768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861413" y="5157788"/>
            <a:ext cx="35354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Пермяков Дмитрий Кириллович, ИУ5-22М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39800" y="51435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38150"/>
            <a:ext cx="6200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такое марковский процесс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89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219200"/>
            <a:ext cx="5581650" cy="2495550"/>
          </a:xfrm>
          <a:custGeom>
            <a:avLst/>
            <a:gdLst/>
            <a:ahLst/>
            <a:cxnLst/>
            <a:rect l="l" t="t" r="r" b="b"/>
            <a:pathLst>
              <a:path w="5581650" h="2495550">
                <a:moveTo>
                  <a:pt x="38100" y="0"/>
                </a:moveTo>
                <a:lnTo>
                  <a:pt x="5467354" y="0"/>
                </a:lnTo>
                <a:cubicBezTo>
                  <a:pt x="5530478" y="0"/>
                  <a:pt x="5581650" y="51172"/>
                  <a:pt x="5581650" y="114296"/>
                </a:cubicBezTo>
                <a:lnTo>
                  <a:pt x="5581650" y="2381254"/>
                </a:lnTo>
                <a:cubicBezTo>
                  <a:pt x="5581650" y="2444378"/>
                  <a:pt x="5530478" y="2495550"/>
                  <a:pt x="5467354" y="2495550"/>
                </a:cubicBezTo>
                <a:lnTo>
                  <a:pt x="38100" y="2495550"/>
                </a:lnTo>
                <a:cubicBezTo>
                  <a:pt x="17072" y="2495550"/>
                  <a:pt x="0" y="2478478"/>
                  <a:pt x="0" y="2457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7" name="Shape 5"/>
          <p:cNvSpPr/>
          <p:nvPr/>
        </p:nvSpPr>
        <p:spPr>
          <a:xfrm>
            <a:off x="400050" y="1219200"/>
            <a:ext cx="38100" cy="2495550"/>
          </a:xfrm>
          <a:custGeom>
            <a:avLst/>
            <a:gdLst/>
            <a:ahLst/>
            <a:cxnLst/>
            <a:rect l="l" t="t" r="r" b="b"/>
            <a:pathLst>
              <a:path w="38100" h="2495550">
                <a:moveTo>
                  <a:pt x="38100" y="0"/>
                </a:moveTo>
                <a:lnTo>
                  <a:pt x="38100" y="0"/>
                </a:lnTo>
                <a:lnTo>
                  <a:pt x="38100" y="2495550"/>
                </a:lnTo>
                <a:lnTo>
                  <a:pt x="38100" y="2495550"/>
                </a:lnTo>
                <a:cubicBezTo>
                  <a:pt x="17072" y="2495550"/>
                  <a:pt x="0" y="2478478"/>
                  <a:pt x="0" y="2457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609601" y="1409700"/>
            <a:ext cx="527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Случайный процесс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79070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Случайный процесс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семейство случайных величин {X(t), t ∈ T}, зависящих от параметра t (времени). Каждая реализация процесса называется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траекторией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647950"/>
            <a:ext cx="5181600" cy="876300"/>
          </a:xfrm>
          <a:custGeom>
            <a:avLst/>
            <a:gdLst/>
            <a:ahLst/>
            <a:cxnLst/>
            <a:rect l="l" t="t" r="r" b="b"/>
            <a:pathLst>
              <a:path w="5181600" h="876300">
                <a:moveTo>
                  <a:pt x="76203" y="0"/>
                </a:moveTo>
                <a:lnTo>
                  <a:pt x="5105397" y="0"/>
                </a:lnTo>
                <a:cubicBezTo>
                  <a:pt x="5147483" y="0"/>
                  <a:pt x="5181600" y="34117"/>
                  <a:pt x="5181600" y="76203"/>
                </a:cubicBezTo>
                <a:lnTo>
                  <a:pt x="5181600" y="800097"/>
                </a:lnTo>
                <a:cubicBezTo>
                  <a:pt x="5181600" y="842183"/>
                  <a:pt x="5147483" y="876300"/>
                  <a:pt x="51053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723900" y="2762250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B6C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Классификация по времени: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" y="299085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Дискретное время: t = 0, 1, 2, ...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300" y="321945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Непрерывное время: t ∈ [0, +∞)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867150"/>
            <a:ext cx="5581650" cy="1504950"/>
          </a:xfrm>
          <a:custGeom>
            <a:avLst/>
            <a:gdLst/>
            <a:ahLst/>
            <a:cxnLst/>
            <a:rect l="l" t="t" r="r" b="b"/>
            <a:pathLst>
              <a:path w="5581650" h="1504950">
                <a:moveTo>
                  <a:pt x="38100" y="0"/>
                </a:moveTo>
                <a:lnTo>
                  <a:pt x="5467349" y="0"/>
                </a:lnTo>
                <a:cubicBezTo>
                  <a:pt x="5530476" y="0"/>
                  <a:pt x="5581650" y="51174"/>
                  <a:pt x="5581650" y="114301"/>
                </a:cubicBezTo>
                <a:lnTo>
                  <a:pt x="5581650" y="1390649"/>
                </a:lnTo>
                <a:cubicBezTo>
                  <a:pt x="5581650" y="1453776"/>
                  <a:pt x="5530476" y="1504950"/>
                  <a:pt x="5467349" y="1504950"/>
                </a:cubicBez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0050" y="386715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3810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1" y="4057650"/>
            <a:ext cx="527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История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43865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Теория создана русским математиком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Андреем Андреевичем Марковым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(1856–1922) в начале XX века. Первоначально изучались цепи с дискретным временем и конечным числом состояний.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0300" y="1219200"/>
            <a:ext cx="5600700" cy="2571750"/>
          </a:xfrm>
          <a:custGeom>
            <a:avLst/>
            <a:gdLst/>
            <a:ahLst/>
            <a:cxnLst/>
            <a:rect l="l" t="t" r="r" b="b"/>
            <a:pathLst>
              <a:path w="5600700" h="2571750">
                <a:moveTo>
                  <a:pt x="114289" y="0"/>
                </a:moveTo>
                <a:lnTo>
                  <a:pt x="5486411" y="0"/>
                </a:lnTo>
                <a:cubicBezTo>
                  <a:pt x="5549489" y="0"/>
                  <a:pt x="5600700" y="51211"/>
                  <a:pt x="5600700" y="114289"/>
                </a:cubicBezTo>
                <a:lnTo>
                  <a:pt x="5600700" y="2457461"/>
                </a:lnTo>
                <a:cubicBezTo>
                  <a:pt x="5600700" y="2520581"/>
                  <a:pt x="5549531" y="2571750"/>
                  <a:pt x="5486411" y="2571750"/>
                </a:cubicBezTo>
                <a:lnTo>
                  <a:pt x="114289" y="2571750"/>
                </a:lnTo>
                <a:cubicBezTo>
                  <a:pt x="51211" y="2571750"/>
                  <a:pt x="0" y="2520539"/>
                  <a:pt x="0" y="24574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64000">
                <a:srgbClr val="2B6CB0"/>
              </a:gs>
            </a:gsLst>
            <a:lin ang="2700000" scaled="1"/>
          </a:gradFill>
          <a:ln/>
        </p:spPr>
      </p:sp>
      <p:sp>
        <p:nvSpPr>
          <p:cNvPr id="22" name="Text 20"/>
          <p:cNvSpPr/>
          <p:nvPr/>
        </p:nvSpPr>
        <p:spPr>
          <a:xfrm>
            <a:off x="6400801" y="140970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Марковский процесс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1790700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Марковский процесс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случайный процесс, обладающий 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марковским свойством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будущее поведение процесса зависит только от текущего состояния и не зависит от прошлого.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2686050"/>
            <a:ext cx="5219700" cy="914400"/>
          </a:xfrm>
          <a:custGeom>
            <a:avLst/>
            <a:gdLst/>
            <a:ahLst/>
            <a:cxnLst/>
            <a:rect l="l" t="t" r="r" b="b"/>
            <a:pathLst>
              <a:path w="5219700" h="9144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838203"/>
                </a:lnTo>
                <a:cubicBezTo>
                  <a:pt x="5219700" y="880285"/>
                  <a:pt x="5185585" y="914400"/>
                  <a:pt x="51435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15100" y="28003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Формальное определение: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5100" y="3067050"/>
            <a:ext cx="50577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Процесс X(t) называется марковским, если для любых моментов времени t₁ &lt; t₂ &lt; ... &lt; tₙ &lt; t и любых состояний x₁, x₂, ..., xₙ, x: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3943350"/>
            <a:ext cx="5600700" cy="2019300"/>
          </a:xfrm>
          <a:custGeom>
            <a:avLst/>
            <a:gdLst/>
            <a:ahLst/>
            <a:cxnLst/>
            <a:rect l="l" t="t" r="r" b="b"/>
            <a:pathLst>
              <a:path w="5600700" h="2019300">
                <a:moveTo>
                  <a:pt x="114292" y="0"/>
                </a:moveTo>
                <a:lnTo>
                  <a:pt x="5486408" y="0"/>
                </a:lnTo>
                <a:cubicBezTo>
                  <a:pt x="5549530" y="0"/>
                  <a:pt x="5600700" y="51170"/>
                  <a:pt x="5600700" y="114292"/>
                </a:cubicBezTo>
                <a:lnTo>
                  <a:pt x="5600700" y="1905008"/>
                </a:lnTo>
                <a:cubicBezTo>
                  <a:pt x="5600700" y="1968130"/>
                  <a:pt x="5549530" y="2019300"/>
                  <a:pt x="5486408" y="2019300"/>
                </a:cubicBezTo>
                <a:lnTo>
                  <a:pt x="114292" y="2019300"/>
                </a:lnTo>
                <a:cubicBezTo>
                  <a:pt x="51170" y="2019300"/>
                  <a:pt x="0" y="1968130"/>
                  <a:pt x="0" y="190500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1" y="413385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Области применения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4514850"/>
            <a:ext cx="2552700" cy="342900"/>
          </a:xfrm>
          <a:custGeom>
            <a:avLst/>
            <a:gdLst/>
            <a:ahLst/>
            <a:cxnLst/>
            <a:rect l="l" t="t" r="r" b="b"/>
            <a:pathLst>
              <a:path w="2552700" h="3429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266701"/>
                </a:lnTo>
                <a:cubicBezTo>
                  <a:pt x="2552700" y="308784"/>
                  <a:pt x="2518584" y="342900"/>
                  <a:pt x="2476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9381" y="46005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" y="32147"/>
                </a:moveTo>
                <a:cubicBezTo>
                  <a:pt x="21431" y="20326"/>
                  <a:pt x="31042" y="10716"/>
                  <a:pt x="42863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192881" y="112514"/>
                </a:lnTo>
                <a:lnTo>
                  <a:pt x="171450" y="112514"/>
                </a:lnTo>
                <a:lnTo>
                  <a:pt x="171450" y="32147"/>
                </a:lnTo>
                <a:lnTo>
                  <a:pt x="42863" y="32147"/>
                </a:lnTo>
                <a:lnTo>
                  <a:pt x="42863" y="112514"/>
                </a:lnTo>
                <a:lnTo>
                  <a:pt x="21431" y="112514"/>
                </a:lnTo>
                <a:lnTo>
                  <a:pt x="21431" y="32147"/>
                </a:lnTo>
                <a:close/>
                <a:moveTo>
                  <a:pt x="0" y="135017"/>
                </a:moveTo>
                <a:cubicBezTo>
                  <a:pt x="0" y="131467"/>
                  <a:pt x="2880" y="128588"/>
                  <a:pt x="6429" y="128588"/>
                </a:cubicBezTo>
                <a:lnTo>
                  <a:pt x="207883" y="128588"/>
                </a:lnTo>
                <a:cubicBezTo>
                  <a:pt x="211433" y="128588"/>
                  <a:pt x="214313" y="131467"/>
                  <a:pt x="214313" y="135017"/>
                </a:cubicBezTo>
                <a:cubicBezTo>
                  <a:pt x="214313" y="149215"/>
                  <a:pt x="202793" y="160734"/>
                  <a:pt x="188595" y="160734"/>
                </a:cubicBezTo>
                <a:lnTo>
                  <a:pt x="25718" y="160734"/>
                </a:lnTo>
                <a:cubicBezTo>
                  <a:pt x="11519" y="160734"/>
                  <a:pt x="0" y="149215"/>
                  <a:pt x="0" y="135017"/>
                </a:cubicBezTo>
                <a:close/>
                <a:moveTo>
                  <a:pt x="94097" y="69986"/>
                </a:moveTo>
                <a:lnTo>
                  <a:pt x="83716" y="80367"/>
                </a:lnTo>
                <a:lnTo>
                  <a:pt x="94097" y="90748"/>
                </a:lnTo>
                <a:cubicBezTo>
                  <a:pt x="97244" y="93896"/>
                  <a:pt x="97244" y="98986"/>
                  <a:pt x="94097" y="102100"/>
                </a:cubicBezTo>
                <a:cubicBezTo>
                  <a:pt x="90949" y="105214"/>
                  <a:pt x="85859" y="105248"/>
                  <a:pt x="82745" y="102100"/>
                </a:cubicBezTo>
                <a:lnTo>
                  <a:pt x="66671" y="86026"/>
                </a:lnTo>
                <a:cubicBezTo>
                  <a:pt x="63524" y="82879"/>
                  <a:pt x="63524" y="77789"/>
                  <a:pt x="66671" y="74675"/>
                </a:cubicBezTo>
                <a:lnTo>
                  <a:pt x="82745" y="58601"/>
                </a:lnTo>
                <a:cubicBezTo>
                  <a:pt x="85892" y="55453"/>
                  <a:pt x="90982" y="55453"/>
                  <a:pt x="94097" y="58601"/>
                </a:cubicBezTo>
                <a:cubicBezTo>
                  <a:pt x="97211" y="61749"/>
                  <a:pt x="97244" y="66839"/>
                  <a:pt x="94097" y="69953"/>
                </a:cubicBezTo>
                <a:close/>
                <a:moveTo>
                  <a:pt x="131601" y="58601"/>
                </a:moveTo>
                <a:lnTo>
                  <a:pt x="147675" y="74675"/>
                </a:lnTo>
                <a:cubicBezTo>
                  <a:pt x="150822" y="77822"/>
                  <a:pt x="150822" y="82912"/>
                  <a:pt x="147675" y="86026"/>
                </a:cubicBezTo>
                <a:lnTo>
                  <a:pt x="131601" y="102100"/>
                </a:lnTo>
                <a:cubicBezTo>
                  <a:pt x="128454" y="105248"/>
                  <a:pt x="123364" y="105248"/>
                  <a:pt x="120249" y="102100"/>
                </a:cubicBezTo>
                <a:cubicBezTo>
                  <a:pt x="117135" y="98952"/>
                  <a:pt x="117102" y="93862"/>
                  <a:pt x="120249" y="90748"/>
                </a:cubicBezTo>
                <a:lnTo>
                  <a:pt x="130630" y="80367"/>
                </a:lnTo>
                <a:lnTo>
                  <a:pt x="120249" y="69986"/>
                </a:lnTo>
                <a:cubicBezTo>
                  <a:pt x="117102" y="66839"/>
                  <a:pt x="117102" y="61749"/>
                  <a:pt x="120249" y="58635"/>
                </a:cubicBezTo>
                <a:cubicBezTo>
                  <a:pt x="123397" y="55520"/>
                  <a:pt x="128487" y="55487"/>
                  <a:pt x="131601" y="58635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2" name="Text 30"/>
          <p:cNvSpPr/>
          <p:nvPr/>
        </p:nvSpPr>
        <p:spPr>
          <a:xfrm>
            <a:off x="6767513" y="45910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и веб-аналитика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67800" y="4514850"/>
            <a:ext cx="2552700" cy="342900"/>
          </a:xfrm>
          <a:custGeom>
            <a:avLst/>
            <a:gdLst/>
            <a:ahLst/>
            <a:cxnLst/>
            <a:rect l="l" t="t" r="r" b="b"/>
            <a:pathLst>
              <a:path w="2552700" h="3429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266701"/>
                </a:lnTo>
                <a:cubicBezTo>
                  <a:pt x="2552700" y="308784"/>
                  <a:pt x="2518584" y="342900"/>
                  <a:pt x="2476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4" name="Shape 32"/>
          <p:cNvSpPr/>
          <p:nvPr/>
        </p:nvSpPr>
        <p:spPr>
          <a:xfrm>
            <a:off x="9167813" y="4600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9434513" y="459105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Экономика и финансы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4972050"/>
            <a:ext cx="2552700" cy="342900"/>
          </a:xfrm>
          <a:custGeom>
            <a:avLst/>
            <a:gdLst/>
            <a:ahLst/>
            <a:cxnLst/>
            <a:rect l="l" t="t" r="r" b="b"/>
            <a:pathLst>
              <a:path w="2552700" h="3429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266701"/>
                </a:lnTo>
                <a:cubicBezTo>
                  <a:pt x="2552700" y="308784"/>
                  <a:pt x="2518584" y="342900"/>
                  <a:pt x="2476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9381" y="5057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8" name="Text 36"/>
          <p:cNvSpPr/>
          <p:nvPr/>
        </p:nvSpPr>
        <p:spPr>
          <a:xfrm>
            <a:off x="6767513" y="504825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Надёжность систем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67800" y="4972050"/>
            <a:ext cx="2552700" cy="342900"/>
          </a:xfrm>
          <a:custGeom>
            <a:avLst/>
            <a:gdLst/>
            <a:ahLst/>
            <a:cxnLst/>
            <a:rect l="l" t="t" r="r" b="b"/>
            <a:pathLst>
              <a:path w="2552700" h="3429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266701"/>
                </a:lnTo>
                <a:cubicBezTo>
                  <a:pt x="2552700" y="308784"/>
                  <a:pt x="2518584" y="342900"/>
                  <a:pt x="2476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0" name="Shape 38"/>
          <p:cNvSpPr/>
          <p:nvPr/>
        </p:nvSpPr>
        <p:spPr>
          <a:xfrm>
            <a:off x="9189244" y="50577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17872" y="0"/>
                </a:moveTo>
                <a:cubicBezTo>
                  <a:pt x="123799" y="0"/>
                  <a:pt x="128588" y="4789"/>
                  <a:pt x="128588" y="10716"/>
                </a:cubicBezTo>
                <a:cubicBezTo>
                  <a:pt x="128588" y="30071"/>
                  <a:pt x="120417" y="45809"/>
                  <a:pt x="109366" y="59103"/>
                </a:cubicBezTo>
                <a:cubicBezTo>
                  <a:pt x="101296" y="68781"/>
                  <a:pt x="91351" y="77554"/>
                  <a:pt x="81372" y="85725"/>
                </a:cubicBezTo>
                <a:cubicBezTo>
                  <a:pt x="91351" y="93929"/>
                  <a:pt x="101296" y="102669"/>
                  <a:pt x="109366" y="112347"/>
                </a:cubicBezTo>
                <a:cubicBezTo>
                  <a:pt x="120417" y="125607"/>
                  <a:pt x="128588" y="141379"/>
                  <a:pt x="128588" y="160734"/>
                </a:cubicBezTo>
                <a:cubicBezTo>
                  <a:pt x="128588" y="166661"/>
                  <a:pt x="123799" y="171450"/>
                  <a:pt x="117872" y="171450"/>
                </a:cubicBezTo>
                <a:cubicBezTo>
                  <a:pt x="111945" y="171450"/>
                  <a:pt x="107156" y="166661"/>
                  <a:pt x="107156" y="160734"/>
                </a:cubicBezTo>
                <a:lnTo>
                  <a:pt x="21431" y="160734"/>
                </a:lnTo>
                <a:cubicBezTo>
                  <a:pt x="21431" y="166661"/>
                  <a:pt x="16643" y="171450"/>
                  <a:pt x="10716" y="171450"/>
                </a:cubicBezTo>
                <a:cubicBezTo>
                  <a:pt x="4789" y="171450"/>
                  <a:pt x="0" y="166661"/>
                  <a:pt x="0" y="160734"/>
                </a:cubicBezTo>
                <a:cubicBezTo>
                  <a:pt x="0" y="141379"/>
                  <a:pt x="8171" y="125641"/>
                  <a:pt x="19221" y="112347"/>
                </a:cubicBezTo>
                <a:cubicBezTo>
                  <a:pt x="27291" y="102669"/>
                  <a:pt x="37237" y="93929"/>
                  <a:pt x="47216" y="85725"/>
                </a:cubicBezTo>
                <a:cubicBezTo>
                  <a:pt x="37237" y="77521"/>
                  <a:pt x="27291" y="68781"/>
                  <a:pt x="19221" y="59103"/>
                </a:cubicBezTo>
                <a:cubicBezTo>
                  <a:pt x="8171" y="45809"/>
                  <a:pt x="0" y="30071"/>
                  <a:pt x="0" y="10716"/>
                </a:cubicBezTo>
                <a:cubicBezTo>
                  <a:pt x="0" y="4789"/>
                  <a:pt x="4789" y="0"/>
                  <a:pt x="10716" y="0"/>
                </a:cubicBezTo>
                <a:cubicBezTo>
                  <a:pt x="16643" y="0"/>
                  <a:pt x="21431" y="4789"/>
                  <a:pt x="21431" y="10716"/>
                </a:cubicBezTo>
                <a:lnTo>
                  <a:pt x="107156" y="10716"/>
                </a:lnTo>
                <a:cubicBezTo>
                  <a:pt x="107156" y="4789"/>
                  <a:pt x="111945" y="0"/>
                  <a:pt x="117872" y="0"/>
                </a:cubicBezTo>
                <a:close/>
                <a:moveTo>
                  <a:pt x="94934" y="128588"/>
                </a:moveTo>
                <a:lnTo>
                  <a:pt x="33687" y="128588"/>
                </a:lnTo>
                <a:cubicBezTo>
                  <a:pt x="30941" y="132104"/>
                  <a:pt x="28631" y="135653"/>
                  <a:pt x="26789" y="139303"/>
                </a:cubicBezTo>
                <a:lnTo>
                  <a:pt x="101865" y="139303"/>
                </a:lnTo>
                <a:cubicBezTo>
                  <a:pt x="99990" y="135653"/>
                  <a:pt x="97680" y="132104"/>
                  <a:pt x="94967" y="128588"/>
                </a:cubicBezTo>
                <a:close/>
                <a:moveTo>
                  <a:pt x="79697" y="112514"/>
                </a:moveTo>
                <a:cubicBezTo>
                  <a:pt x="74909" y="108161"/>
                  <a:pt x="69719" y="103875"/>
                  <a:pt x="64294" y="99454"/>
                </a:cubicBezTo>
                <a:cubicBezTo>
                  <a:pt x="58869" y="103841"/>
                  <a:pt x="53679" y="108161"/>
                  <a:pt x="48890" y="112514"/>
                </a:cubicBezTo>
                <a:lnTo>
                  <a:pt x="79697" y="112514"/>
                </a:lnTo>
                <a:close/>
                <a:moveTo>
                  <a:pt x="33654" y="42863"/>
                </a:moveTo>
                <a:lnTo>
                  <a:pt x="94900" y="42863"/>
                </a:lnTo>
                <a:cubicBezTo>
                  <a:pt x="97646" y="39346"/>
                  <a:pt x="99957" y="35797"/>
                  <a:pt x="101798" y="32147"/>
                </a:cubicBezTo>
                <a:lnTo>
                  <a:pt x="26756" y="32147"/>
                </a:lnTo>
                <a:cubicBezTo>
                  <a:pt x="28631" y="35797"/>
                  <a:pt x="30941" y="39346"/>
                  <a:pt x="33654" y="42863"/>
                </a:cubicBezTo>
                <a:close/>
                <a:moveTo>
                  <a:pt x="48890" y="58936"/>
                </a:moveTo>
                <a:cubicBezTo>
                  <a:pt x="53679" y="63289"/>
                  <a:pt x="58869" y="67575"/>
                  <a:pt x="64294" y="71996"/>
                </a:cubicBezTo>
                <a:cubicBezTo>
                  <a:pt x="69719" y="67609"/>
                  <a:pt x="74909" y="63289"/>
                  <a:pt x="79697" y="58936"/>
                </a:cubicBezTo>
                <a:lnTo>
                  <a:pt x="48890" y="58936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1" name="Text 39"/>
          <p:cNvSpPr/>
          <p:nvPr/>
        </p:nvSpPr>
        <p:spPr>
          <a:xfrm>
            <a:off x="9434513" y="504825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Биоинформатика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0" y="5429250"/>
            <a:ext cx="2552700" cy="342900"/>
          </a:xfrm>
          <a:custGeom>
            <a:avLst/>
            <a:gdLst/>
            <a:ahLst/>
            <a:cxnLst/>
            <a:rect l="l" t="t" r="r" b="b"/>
            <a:pathLst>
              <a:path w="2552700" h="3429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266701"/>
                </a:lnTo>
                <a:cubicBezTo>
                  <a:pt x="2552700" y="308784"/>
                  <a:pt x="2518584" y="342900"/>
                  <a:pt x="2476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3" name="Shape 41"/>
          <p:cNvSpPr/>
          <p:nvPr/>
        </p:nvSpPr>
        <p:spPr>
          <a:xfrm>
            <a:off x="6511528" y="55149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133543"/>
                </a:moveTo>
                <a:cubicBezTo>
                  <a:pt x="71058" y="135251"/>
                  <a:pt x="67174" y="136792"/>
                  <a:pt x="63323" y="138064"/>
                </a:cubicBezTo>
                <a:cubicBezTo>
                  <a:pt x="68915" y="149383"/>
                  <a:pt x="73703" y="150019"/>
                  <a:pt x="75009" y="150019"/>
                </a:cubicBezTo>
                <a:cubicBezTo>
                  <a:pt x="76315" y="150019"/>
                  <a:pt x="81070" y="149383"/>
                  <a:pt x="86696" y="138064"/>
                </a:cubicBezTo>
                <a:cubicBezTo>
                  <a:pt x="82879" y="136758"/>
                  <a:pt x="78961" y="135251"/>
                  <a:pt x="75009" y="133543"/>
                </a:cubicBezTo>
                <a:close/>
                <a:moveTo>
                  <a:pt x="138633" y="85725"/>
                </a:moveTo>
                <a:cubicBezTo>
                  <a:pt x="149684" y="100861"/>
                  <a:pt x="153468" y="116164"/>
                  <a:pt x="146536" y="128588"/>
                </a:cubicBezTo>
                <a:cubicBezTo>
                  <a:pt x="139772" y="140743"/>
                  <a:pt x="125607" y="145096"/>
                  <a:pt x="107960" y="143054"/>
                </a:cubicBezTo>
                <a:cubicBezTo>
                  <a:pt x="100593" y="160500"/>
                  <a:pt x="89308" y="171450"/>
                  <a:pt x="75009" y="171450"/>
                </a:cubicBezTo>
                <a:cubicBezTo>
                  <a:pt x="60711" y="171450"/>
                  <a:pt x="49426" y="160500"/>
                  <a:pt x="42059" y="143054"/>
                </a:cubicBezTo>
                <a:cubicBezTo>
                  <a:pt x="24412" y="145096"/>
                  <a:pt x="10247" y="140743"/>
                  <a:pt x="3483" y="128588"/>
                </a:cubicBezTo>
                <a:cubicBezTo>
                  <a:pt x="-3449" y="116164"/>
                  <a:pt x="335" y="100861"/>
                  <a:pt x="11385" y="85725"/>
                </a:cubicBezTo>
                <a:cubicBezTo>
                  <a:pt x="335" y="70589"/>
                  <a:pt x="-3449" y="55286"/>
                  <a:pt x="3483" y="42863"/>
                </a:cubicBezTo>
                <a:cubicBezTo>
                  <a:pt x="10247" y="30707"/>
                  <a:pt x="24412" y="26354"/>
                  <a:pt x="42059" y="28396"/>
                </a:cubicBezTo>
                <a:cubicBezTo>
                  <a:pt x="49426" y="10950"/>
                  <a:pt x="60677" y="0"/>
                  <a:pt x="75009" y="0"/>
                </a:cubicBezTo>
                <a:cubicBezTo>
                  <a:pt x="89342" y="0"/>
                  <a:pt x="100593" y="10950"/>
                  <a:pt x="107960" y="28396"/>
                </a:cubicBezTo>
                <a:cubicBezTo>
                  <a:pt x="125607" y="26354"/>
                  <a:pt x="139772" y="30673"/>
                  <a:pt x="146536" y="42863"/>
                </a:cubicBezTo>
                <a:cubicBezTo>
                  <a:pt x="153468" y="55286"/>
                  <a:pt x="149684" y="70589"/>
                  <a:pt x="138633" y="85725"/>
                </a:cubicBezTo>
                <a:close/>
                <a:moveTo>
                  <a:pt x="116599" y="108295"/>
                </a:moveTo>
                <a:cubicBezTo>
                  <a:pt x="116030" y="113050"/>
                  <a:pt x="115293" y="117671"/>
                  <a:pt x="114356" y="122091"/>
                </a:cubicBezTo>
                <a:cubicBezTo>
                  <a:pt x="125004" y="122560"/>
                  <a:pt x="127282" y="119178"/>
                  <a:pt x="127817" y="118173"/>
                </a:cubicBezTo>
                <a:cubicBezTo>
                  <a:pt x="128588" y="116767"/>
                  <a:pt x="130161" y="112179"/>
                  <a:pt x="123832" y="102066"/>
                </a:cubicBezTo>
                <a:cubicBezTo>
                  <a:pt x="121555" y="104176"/>
                  <a:pt x="119144" y="106252"/>
                  <a:pt x="116599" y="108295"/>
                </a:cubicBezTo>
                <a:close/>
                <a:moveTo>
                  <a:pt x="114356" y="49392"/>
                </a:moveTo>
                <a:cubicBezTo>
                  <a:pt x="115293" y="53779"/>
                  <a:pt x="116030" y="58400"/>
                  <a:pt x="116599" y="63189"/>
                </a:cubicBezTo>
                <a:cubicBezTo>
                  <a:pt x="119144" y="65231"/>
                  <a:pt x="121555" y="67308"/>
                  <a:pt x="123832" y="69417"/>
                </a:cubicBezTo>
                <a:cubicBezTo>
                  <a:pt x="130161" y="59304"/>
                  <a:pt x="128588" y="54683"/>
                  <a:pt x="127817" y="53310"/>
                </a:cubicBezTo>
                <a:cubicBezTo>
                  <a:pt x="127282" y="52339"/>
                  <a:pt x="125004" y="48957"/>
                  <a:pt x="114356" y="49392"/>
                </a:cubicBezTo>
                <a:close/>
                <a:moveTo>
                  <a:pt x="86696" y="33386"/>
                </a:moveTo>
                <a:cubicBezTo>
                  <a:pt x="81070" y="22067"/>
                  <a:pt x="76315" y="21431"/>
                  <a:pt x="75009" y="21431"/>
                </a:cubicBezTo>
                <a:cubicBezTo>
                  <a:pt x="73703" y="21431"/>
                  <a:pt x="68948" y="22067"/>
                  <a:pt x="63323" y="33386"/>
                </a:cubicBezTo>
                <a:cubicBezTo>
                  <a:pt x="67140" y="34692"/>
                  <a:pt x="71058" y="36199"/>
                  <a:pt x="75009" y="37907"/>
                </a:cubicBezTo>
                <a:cubicBezTo>
                  <a:pt x="78961" y="36199"/>
                  <a:pt x="82845" y="34658"/>
                  <a:pt x="86696" y="33386"/>
                </a:cubicBezTo>
                <a:close/>
                <a:moveTo>
                  <a:pt x="33453" y="63155"/>
                </a:moveTo>
                <a:cubicBezTo>
                  <a:pt x="34022" y="58367"/>
                  <a:pt x="34759" y="53779"/>
                  <a:pt x="35696" y="49359"/>
                </a:cubicBezTo>
                <a:cubicBezTo>
                  <a:pt x="25048" y="48890"/>
                  <a:pt x="22771" y="52272"/>
                  <a:pt x="22235" y="53277"/>
                </a:cubicBezTo>
                <a:cubicBezTo>
                  <a:pt x="21465" y="54683"/>
                  <a:pt x="19891" y="59271"/>
                  <a:pt x="26220" y="69384"/>
                </a:cubicBezTo>
                <a:cubicBezTo>
                  <a:pt x="28497" y="67274"/>
                  <a:pt x="30908" y="65198"/>
                  <a:pt x="33453" y="63155"/>
                </a:cubicBezTo>
                <a:close/>
                <a:moveTo>
                  <a:pt x="26186" y="102066"/>
                </a:moveTo>
                <a:cubicBezTo>
                  <a:pt x="19857" y="112179"/>
                  <a:pt x="21431" y="116800"/>
                  <a:pt x="22201" y="118173"/>
                </a:cubicBezTo>
                <a:cubicBezTo>
                  <a:pt x="22737" y="119144"/>
                  <a:pt x="25014" y="122526"/>
                  <a:pt x="35663" y="122091"/>
                </a:cubicBezTo>
                <a:cubicBezTo>
                  <a:pt x="34725" y="117704"/>
                  <a:pt x="33989" y="113083"/>
                  <a:pt x="33419" y="108295"/>
                </a:cubicBezTo>
                <a:cubicBezTo>
                  <a:pt x="30874" y="106252"/>
                  <a:pt x="28463" y="104176"/>
                  <a:pt x="26186" y="102066"/>
                </a:cubicBezTo>
                <a:close/>
                <a:moveTo>
                  <a:pt x="101798" y="85725"/>
                </a:moveTo>
                <a:cubicBezTo>
                  <a:pt x="101798" y="70940"/>
                  <a:pt x="89795" y="58936"/>
                  <a:pt x="75009" y="58936"/>
                </a:cubicBezTo>
                <a:cubicBezTo>
                  <a:pt x="60224" y="58936"/>
                  <a:pt x="48220" y="70940"/>
                  <a:pt x="48220" y="85725"/>
                </a:cubicBezTo>
                <a:cubicBezTo>
                  <a:pt x="48220" y="100510"/>
                  <a:pt x="60224" y="112514"/>
                  <a:pt x="75009" y="112514"/>
                </a:cubicBezTo>
                <a:cubicBezTo>
                  <a:pt x="89795" y="112514"/>
                  <a:pt x="101798" y="100510"/>
                  <a:pt x="101798" y="85725"/>
                </a:cubicBezTo>
                <a:close/>
                <a:moveTo>
                  <a:pt x="75009" y="75009"/>
                </a:moveTo>
                <a:cubicBezTo>
                  <a:pt x="80923" y="75009"/>
                  <a:pt x="85725" y="79811"/>
                  <a:pt x="85725" y="85725"/>
                </a:cubicBezTo>
                <a:cubicBezTo>
                  <a:pt x="85725" y="91639"/>
                  <a:pt x="80923" y="96441"/>
                  <a:pt x="75009" y="96441"/>
                </a:cubicBezTo>
                <a:cubicBezTo>
                  <a:pt x="69095" y="96441"/>
                  <a:pt x="64294" y="91639"/>
                  <a:pt x="64294" y="85725"/>
                </a:cubicBezTo>
                <a:cubicBezTo>
                  <a:pt x="64294" y="79811"/>
                  <a:pt x="69095" y="75009"/>
                  <a:pt x="75009" y="75009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4" name="Text 42"/>
          <p:cNvSpPr/>
          <p:nvPr/>
        </p:nvSpPr>
        <p:spPr>
          <a:xfrm>
            <a:off x="6767513" y="550545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67800" y="5429250"/>
            <a:ext cx="2552700" cy="342900"/>
          </a:xfrm>
          <a:custGeom>
            <a:avLst/>
            <a:gdLst/>
            <a:ahLst/>
            <a:cxnLst/>
            <a:rect l="l" t="t" r="r" b="b"/>
            <a:pathLst>
              <a:path w="2552700" h="3429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266701"/>
                </a:lnTo>
                <a:cubicBezTo>
                  <a:pt x="2552700" y="308784"/>
                  <a:pt x="2518584" y="342900"/>
                  <a:pt x="24765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6" name="Shape 44"/>
          <p:cNvSpPr/>
          <p:nvPr/>
        </p:nvSpPr>
        <p:spPr>
          <a:xfrm>
            <a:off x="9167813" y="5514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7" name="Text 45"/>
          <p:cNvSpPr/>
          <p:nvPr/>
        </p:nvSpPr>
        <p:spPr>
          <a:xfrm>
            <a:off x="9434513" y="550545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Машинное обучение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12266" y="51435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38150"/>
            <a:ext cx="434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Марковское свойство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89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219200"/>
            <a:ext cx="6162675" cy="2800350"/>
          </a:xfrm>
          <a:custGeom>
            <a:avLst/>
            <a:gdLst/>
            <a:ahLst/>
            <a:cxnLst/>
            <a:rect l="l" t="t" r="r" b="b"/>
            <a:pathLst>
              <a:path w="6162675" h="2800350">
                <a:moveTo>
                  <a:pt x="114310" y="0"/>
                </a:moveTo>
                <a:lnTo>
                  <a:pt x="6048365" y="0"/>
                </a:lnTo>
                <a:cubicBezTo>
                  <a:pt x="6111497" y="0"/>
                  <a:pt x="6162675" y="51178"/>
                  <a:pt x="6162675" y="114310"/>
                </a:cubicBezTo>
                <a:lnTo>
                  <a:pt x="6162675" y="2686040"/>
                </a:lnTo>
                <a:cubicBezTo>
                  <a:pt x="6162675" y="2749172"/>
                  <a:pt x="6111497" y="2800350"/>
                  <a:pt x="6048365" y="2800350"/>
                </a:cubicBezTo>
                <a:lnTo>
                  <a:pt x="114310" y="2800350"/>
                </a:lnTo>
                <a:cubicBezTo>
                  <a:pt x="51178" y="2800350"/>
                  <a:pt x="0" y="2749172"/>
                  <a:pt x="0" y="268604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320" y="1447800"/>
            <a:ext cx="57840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Свойство отсутствия памяти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895475"/>
            <a:ext cx="5791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Марковское свойство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(или свойство отсутствия памяти) означает, что будущее зависит только от настоящего, но не от прошлого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638425"/>
            <a:ext cx="5705475" cy="1152525"/>
          </a:xfrm>
          <a:custGeom>
            <a:avLst/>
            <a:gdLst/>
            <a:ahLst/>
            <a:cxnLst/>
            <a:rect l="l" t="t" r="r" b="b"/>
            <a:pathLst>
              <a:path w="5705475" h="1152525">
                <a:moveTo>
                  <a:pt x="76205" y="0"/>
                </a:moveTo>
                <a:lnTo>
                  <a:pt x="5629270" y="0"/>
                </a:lnTo>
                <a:cubicBezTo>
                  <a:pt x="5671357" y="0"/>
                  <a:pt x="5705475" y="34118"/>
                  <a:pt x="5705475" y="76205"/>
                </a:cubicBezTo>
                <a:lnTo>
                  <a:pt x="5705475" y="1076320"/>
                </a:lnTo>
                <a:cubicBezTo>
                  <a:pt x="5705475" y="1118407"/>
                  <a:pt x="5671357" y="1152525"/>
                  <a:pt x="56292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790825"/>
            <a:ext cx="547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Математическая запись: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133725"/>
            <a:ext cx="5400675" cy="504825"/>
          </a:xfrm>
          <a:custGeom>
            <a:avLst/>
            <a:gdLst/>
            <a:ahLst/>
            <a:cxnLst/>
            <a:rect l="l" t="t" r="r" b="b"/>
            <a:pathLst>
              <a:path w="5400675" h="504825">
                <a:moveTo>
                  <a:pt x="76198" y="0"/>
                </a:moveTo>
                <a:lnTo>
                  <a:pt x="5324477" y="0"/>
                </a:lnTo>
                <a:cubicBezTo>
                  <a:pt x="5366532" y="0"/>
                  <a:pt x="5400675" y="34143"/>
                  <a:pt x="5400675" y="76198"/>
                </a:cubicBezTo>
                <a:lnTo>
                  <a:pt x="5400675" y="428627"/>
                </a:lnTo>
                <a:cubicBezTo>
                  <a:pt x="5400675" y="470682"/>
                  <a:pt x="5366532" y="504825"/>
                  <a:pt x="5324477" y="504825"/>
                </a:cubicBezTo>
                <a:lnTo>
                  <a:pt x="76198" y="504825"/>
                </a:lnTo>
                <a:cubicBezTo>
                  <a:pt x="34143" y="504825"/>
                  <a:pt x="0" y="470682"/>
                  <a:pt x="0" y="4286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33438" y="3248025"/>
            <a:ext cx="5257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P(X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n+1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j | X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i, X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n-1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i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n-1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..., X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i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= P(X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n+1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j | X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i)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4171950"/>
            <a:ext cx="6143625" cy="1257300"/>
          </a:xfrm>
          <a:custGeom>
            <a:avLst/>
            <a:gdLst/>
            <a:ahLst/>
            <a:cxnLst/>
            <a:rect l="l" t="t" r="r" b="b"/>
            <a:pathLst>
              <a:path w="6143625" h="1257300">
                <a:moveTo>
                  <a:pt x="38100" y="0"/>
                </a:moveTo>
                <a:lnTo>
                  <a:pt x="6029324" y="0"/>
                </a:lnTo>
                <a:cubicBezTo>
                  <a:pt x="6092408" y="0"/>
                  <a:pt x="6143625" y="51217"/>
                  <a:pt x="6143625" y="114301"/>
                </a:cubicBezTo>
                <a:lnTo>
                  <a:pt x="6143625" y="1142999"/>
                </a:lnTo>
                <a:cubicBezTo>
                  <a:pt x="6143625" y="1206083"/>
                  <a:pt x="6092408" y="1257300"/>
                  <a:pt x="6029324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417195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5319" y="4400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7" name="Text 15"/>
          <p:cNvSpPr/>
          <p:nvPr/>
        </p:nvSpPr>
        <p:spPr>
          <a:xfrm>
            <a:off x="847725" y="4362450"/>
            <a:ext cx="560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Неформальная трактовка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743450"/>
            <a:ext cx="5819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«Если известно текущее состояние системы, то никакая дополнительная информация о её прошлом не поможет предсказать будущее поведение.»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70340" y="1219200"/>
            <a:ext cx="5038725" cy="5257800"/>
          </a:xfrm>
          <a:custGeom>
            <a:avLst/>
            <a:gdLst/>
            <a:ahLst/>
            <a:cxnLst/>
            <a:rect l="l" t="t" r="r" b="b"/>
            <a:pathLst>
              <a:path w="5038725" h="5257800">
                <a:moveTo>
                  <a:pt x="114278" y="0"/>
                </a:moveTo>
                <a:lnTo>
                  <a:pt x="4924447" y="0"/>
                </a:lnTo>
                <a:cubicBezTo>
                  <a:pt x="4987561" y="0"/>
                  <a:pt x="5038725" y="51164"/>
                  <a:pt x="5038725" y="114278"/>
                </a:cubicBezTo>
                <a:lnTo>
                  <a:pt x="5038725" y="5143522"/>
                </a:lnTo>
                <a:cubicBezTo>
                  <a:pt x="5038725" y="5206636"/>
                  <a:pt x="4987561" y="5257800"/>
                  <a:pt x="4924447" y="5257800"/>
                </a:cubicBezTo>
                <a:lnTo>
                  <a:pt x="114278" y="5257800"/>
                </a:lnTo>
                <a:cubicBezTo>
                  <a:pt x="51164" y="5257800"/>
                  <a:pt x="0" y="5206636"/>
                  <a:pt x="0" y="5143522"/>
                </a:cubicBezTo>
                <a:lnTo>
                  <a:pt x="0" y="114278"/>
                </a:lnTo>
                <a:cubicBezTo>
                  <a:pt x="0" y="51206"/>
                  <a:pt x="51206" y="0"/>
                  <a:pt x="1142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60840" y="1409700"/>
            <a:ext cx="475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Примеры из жизни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60840" y="1828800"/>
            <a:ext cx="4657725" cy="914400"/>
          </a:xfrm>
          <a:custGeom>
            <a:avLst/>
            <a:gdLst/>
            <a:ahLst/>
            <a:cxnLst/>
            <a:rect l="l" t="t" r="r" b="b"/>
            <a:pathLst>
              <a:path w="4657725" h="914400">
                <a:moveTo>
                  <a:pt x="76197" y="0"/>
                </a:moveTo>
                <a:lnTo>
                  <a:pt x="4581528" y="0"/>
                </a:lnTo>
                <a:cubicBezTo>
                  <a:pt x="4623610" y="0"/>
                  <a:pt x="4657725" y="34115"/>
                  <a:pt x="4657725" y="76197"/>
                </a:cubicBezTo>
                <a:lnTo>
                  <a:pt x="4657725" y="838203"/>
                </a:lnTo>
                <a:cubicBezTo>
                  <a:pt x="4657725" y="880285"/>
                  <a:pt x="4623610" y="914400"/>
                  <a:pt x="45815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084665" y="1981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35017" y="-4405"/>
                </a:moveTo>
                <a:cubicBezTo>
                  <a:pt x="136475" y="-3810"/>
                  <a:pt x="137547" y="-2500"/>
                  <a:pt x="137845" y="-953"/>
                </a:cubicBezTo>
                <a:lnTo>
                  <a:pt x="142875" y="23813"/>
                </a:lnTo>
                <a:lnTo>
                  <a:pt x="167640" y="28813"/>
                </a:lnTo>
                <a:cubicBezTo>
                  <a:pt x="169188" y="29141"/>
                  <a:pt x="170468" y="30182"/>
                  <a:pt x="171093" y="31641"/>
                </a:cubicBezTo>
                <a:cubicBezTo>
                  <a:pt x="171718" y="33099"/>
                  <a:pt x="171539" y="34766"/>
                  <a:pt x="170676" y="36076"/>
                </a:cubicBezTo>
                <a:lnTo>
                  <a:pt x="156716" y="57120"/>
                </a:lnTo>
                <a:lnTo>
                  <a:pt x="170676" y="78165"/>
                </a:lnTo>
                <a:cubicBezTo>
                  <a:pt x="171539" y="79474"/>
                  <a:pt x="171718" y="81141"/>
                  <a:pt x="171093" y="82600"/>
                </a:cubicBezTo>
                <a:cubicBezTo>
                  <a:pt x="170468" y="84058"/>
                  <a:pt x="169188" y="85130"/>
                  <a:pt x="167640" y="85427"/>
                </a:cubicBezTo>
                <a:lnTo>
                  <a:pt x="149126" y="89208"/>
                </a:lnTo>
                <a:cubicBezTo>
                  <a:pt x="145584" y="86618"/>
                  <a:pt x="141655" y="84564"/>
                  <a:pt x="137398" y="83135"/>
                </a:cubicBezTo>
                <a:cubicBezTo>
                  <a:pt x="136654" y="79355"/>
                  <a:pt x="135374" y="75783"/>
                  <a:pt x="133618" y="72509"/>
                </a:cubicBezTo>
                <a:cubicBezTo>
                  <a:pt x="136446" y="68074"/>
                  <a:pt x="138113" y="62805"/>
                  <a:pt x="138113" y="57120"/>
                </a:cubicBezTo>
                <a:cubicBezTo>
                  <a:pt x="138113" y="41344"/>
                  <a:pt x="125313" y="28545"/>
                  <a:pt x="109538" y="28545"/>
                </a:cubicBezTo>
                <a:cubicBezTo>
                  <a:pt x="95280" y="28545"/>
                  <a:pt x="83463" y="38993"/>
                  <a:pt x="81320" y="52626"/>
                </a:cubicBezTo>
                <a:cubicBezTo>
                  <a:pt x="73432" y="46583"/>
                  <a:pt x="63609" y="42952"/>
                  <a:pt x="52923" y="42833"/>
                </a:cubicBezTo>
                <a:lnTo>
                  <a:pt x="48429" y="36076"/>
                </a:lnTo>
                <a:cubicBezTo>
                  <a:pt x="47565" y="34766"/>
                  <a:pt x="47387" y="33099"/>
                  <a:pt x="48012" y="31641"/>
                </a:cubicBezTo>
                <a:cubicBezTo>
                  <a:pt x="48637" y="30182"/>
                  <a:pt x="49917" y="29111"/>
                  <a:pt x="51465" y="28813"/>
                </a:cubicBezTo>
                <a:lnTo>
                  <a:pt x="76200" y="23813"/>
                </a:lnTo>
                <a:lnTo>
                  <a:pt x="81201" y="-952"/>
                </a:lnTo>
                <a:cubicBezTo>
                  <a:pt x="81528" y="-2500"/>
                  <a:pt x="82570" y="-3780"/>
                  <a:pt x="84028" y="-4405"/>
                </a:cubicBezTo>
                <a:cubicBezTo>
                  <a:pt x="85487" y="-5030"/>
                  <a:pt x="87154" y="-4852"/>
                  <a:pt x="88463" y="-3989"/>
                </a:cubicBezTo>
                <a:lnTo>
                  <a:pt x="109537" y="10001"/>
                </a:lnTo>
                <a:lnTo>
                  <a:pt x="130582" y="-3959"/>
                </a:lnTo>
                <a:cubicBezTo>
                  <a:pt x="131891" y="-4822"/>
                  <a:pt x="133558" y="-5001"/>
                  <a:pt x="135017" y="-4376"/>
                </a:cubicBezTo>
                <a:close/>
                <a:moveTo>
                  <a:pt x="123825" y="57150"/>
                </a:moveTo>
                <a:cubicBezTo>
                  <a:pt x="123825" y="58281"/>
                  <a:pt x="123706" y="59382"/>
                  <a:pt x="123438" y="60454"/>
                </a:cubicBezTo>
                <a:cubicBezTo>
                  <a:pt x="116979" y="55394"/>
                  <a:pt x="108853" y="52388"/>
                  <a:pt x="100013" y="52388"/>
                </a:cubicBezTo>
                <a:cubicBezTo>
                  <a:pt x="98643" y="52388"/>
                  <a:pt x="97304" y="52447"/>
                  <a:pt x="95994" y="52596"/>
                </a:cubicBezTo>
                <a:cubicBezTo>
                  <a:pt x="97899" y="46940"/>
                  <a:pt x="103257" y="42863"/>
                  <a:pt x="109537" y="42863"/>
                </a:cubicBezTo>
                <a:cubicBezTo>
                  <a:pt x="117425" y="42863"/>
                  <a:pt x="123825" y="49262"/>
                  <a:pt x="123825" y="57150"/>
                </a:cubicBezTo>
                <a:close/>
                <a:moveTo>
                  <a:pt x="28575" y="152400"/>
                </a:moveTo>
                <a:cubicBezTo>
                  <a:pt x="12799" y="152400"/>
                  <a:pt x="0" y="139601"/>
                  <a:pt x="0" y="123825"/>
                </a:cubicBezTo>
                <a:cubicBezTo>
                  <a:pt x="0" y="111175"/>
                  <a:pt x="8215" y="100429"/>
                  <a:pt x="19616" y="96679"/>
                </a:cubicBezTo>
                <a:cubicBezTo>
                  <a:pt x="19229" y="94684"/>
                  <a:pt x="19050" y="92601"/>
                  <a:pt x="19050" y="90488"/>
                </a:cubicBezTo>
                <a:cubicBezTo>
                  <a:pt x="19050" y="72063"/>
                  <a:pt x="33963" y="57150"/>
                  <a:pt x="52388" y="57150"/>
                </a:cubicBezTo>
                <a:cubicBezTo>
                  <a:pt x="65216" y="57150"/>
                  <a:pt x="76349" y="64383"/>
                  <a:pt x="81915" y="75009"/>
                </a:cubicBezTo>
                <a:cubicBezTo>
                  <a:pt x="86291" y="69919"/>
                  <a:pt x="92779" y="66675"/>
                  <a:pt x="100013" y="66675"/>
                </a:cubicBezTo>
                <a:cubicBezTo>
                  <a:pt x="113169" y="66675"/>
                  <a:pt x="123825" y="77331"/>
                  <a:pt x="123825" y="90488"/>
                </a:cubicBezTo>
                <a:cubicBezTo>
                  <a:pt x="123825" y="92125"/>
                  <a:pt x="123646" y="93702"/>
                  <a:pt x="123349" y="95250"/>
                </a:cubicBezTo>
                <a:cubicBezTo>
                  <a:pt x="123498" y="95250"/>
                  <a:pt x="123676" y="95250"/>
                  <a:pt x="123825" y="95250"/>
                </a:cubicBez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28575" y="152400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7341840" y="1943100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Погода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75140" y="22479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Вероятность завтрашней погоды зависит только от сегодняшней, но не от погоды вчера или позавчера.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60840" y="2857500"/>
            <a:ext cx="4657725" cy="914400"/>
          </a:xfrm>
          <a:custGeom>
            <a:avLst/>
            <a:gdLst/>
            <a:ahLst/>
            <a:cxnLst/>
            <a:rect l="l" t="t" r="r" b="b"/>
            <a:pathLst>
              <a:path w="4657725" h="914400">
                <a:moveTo>
                  <a:pt x="76197" y="0"/>
                </a:moveTo>
                <a:lnTo>
                  <a:pt x="4581528" y="0"/>
                </a:lnTo>
                <a:cubicBezTo>
                  <a:pt x="4623610" y="0"/>
                  <a:pt x="4657725" y="34115"/>
                  <a:pt x="4657725" y="76197"/>
                </a:cubicBezTo>
                <a:lnTo>
                  <a:pt x="4657725" y="838203"/>
                </a:lnTo>
                <a:cubicBezTo>
                  <a:pt x="4657725" y="880285"/>
                  <a:pt x="4623610" y="914400"/>
                  <a:pt x="45815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094190" y="3009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341840" y="29718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Игра в орлянку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75140" y="32766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 следующего броска монеты не зависит от предыдущих бросков.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60840" y="3886200"/>
            <a:ext cx="4657725" cy="914400"/>
          </a:xfrm>
          <a:custGeom>
            <a:avLst/>
            <a:gdLst/>
            <a:ahLst/>
            <a:cxnLst/>
            <a:rect l="l" t="t" r="r" b="b"/>
            <a:pathLst>
              <a:path w="4657725" h="914400">
                <a:moveTo>
                  <a:pt x="76197" y="0"/>
                </a:moveTo>
                <a:lnTo>
                  <a:pt x="4581528" y="0"/>
                </a:lnTo>
                <a:cubicBezTo>
                  <a:pt x="4623610" y="0"/>
                  <a:pt x="4657725" y="34115"/>
                  <a:pt x="4657725" y="76197"/>
                </a:cubicBezTo>
                <a:lnTo>
                  <a:pt x="4657725" y="838203"/>
                </a:lnTo>
                <a:cubicBezTo>
                  <a:pt x="4657725" y="880285"/>
                  <a:pt x="4623610" y="914400"/>
                  <a:pt x="45815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7113240" y="4038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7150" y="23813"/>
                </a:moveTo>
                <a:cubicBezTo>
                  <a:pt x="66350" y="23813"/>
                  <a:pt x="73819" y="16343"/>
                  <a:pt x="73819" y="7144"/>
                </a:cubicBezTo>
                <a:cubicBezTo>
                  <a:pt x="73819" y="-2056"/>
                  <a:pt x="66350" y="-9525"/>
                  <a:pt x="57150" y="-9525"/>
                </a:cubicBezTo>
                <a:cubicBezTo>
                  <a:pt x="47950" y="-9525"/>
                  <a:pt x="40481" y="-2056"/>
                  <a:pt x="40481" y="7144"/>
                </a:cubicBezTo>
                <a:cubicBezTo>
                  <a:pt x="40481" y="16343"/>
                  <a:pt x="47950" y="23813"/>
                  <a:pt x="57150" y="23813"/>
                </a:cubicBezTo>
                <a:close/>
                <a:moveTo>
                  <a:pt x="31373" y="67836"/>
                </a:moveTo>
                <a:lnTo>
                  <a:pt x="38100" y="61109"/>
                </a:lnTo>
                <a:lnTo>
                  <a:pt x="38100" y="81736"/>
                </a:lnTo>
                <a:cubicBezTo>
                  <a:pt x="38100" y="90071"/>
                  <a:pt x="41731" y="98018"/>
                  <a:pt x="48071" y="103436"/>
                </a:cubicBezTo>
                <a:lnTo>
                  <a:pt x="69324" y="121652"/>
                </a:lnTo>
                <a:cubicBezTo>
                  <a:pt x="71080" y="123170"/>
                  <a:pt x="72241" y="125254"/>
                  <a:pt x="72569" y="127546"/>
                </a:cubicBezTo>
                <a:lnTo>
                  <a:pt x="76319" y="153769"/>
                </a:lnTo>
                <a:cubicBezTo>
                  <a:pt x="77063" y="158978"/>
                  <a:pt x="81885" y="162610"/>
                  <a:pt x="87094" y="161865"/>
                </a:cubicBezTo>
                <a:cubicBezTo>
                  <a:pt x="92303" y="161121"/>
                  <a:pt x="95935" y="156299"/>
                  <a:pt x="95190" y="151090"/>
                </a:cubicBezTo>
                <a:lnTo>
                  <a:pt x="91440" y="124867"/>
                </a:lnTo>
                <a:cubicBezTo>
                  <a:pt x="90458" y="117991"/>
                  <a:pt x="87005" y="111740"/>
                  <a:pt x="81736" y="107216"/>
                </a:cubicBezTo>
                <a:lnTo>
                  <a:pt x="71467" y="98405"/>
                </a:lnTo>
                <a:lnTo>
                  <a:pt x="71467" y="64115"/>
                </a:lnTo>
                <a:lnTo>
                  <a:pt x="72598" y="65514"/>
                </a:lnTo>
                <a:cubicBezTo>
                  <a:pt x="78016" y="72301"/>
                  <a:pt x="86231" y="76230"/>
                  <a:pt x="94923" y="76230"/>
                </a:cubicBezTo>
                <a:lnTo>
                  <a:pt x="104805" y="76230"/>
                </a:lnTo>
                <a:cubicBezTo>
                  <a:pt x="110073" y="76230"/>
                  <a:pt x="114330" y="71973"/>
                  <a:pt x="114330" y="66705"/>
                </a:cubicBezTo>
                <a:cubicBezTo>
                  <a:pt x="114330" y="61436"/>
                  <a:pt x="110073" y="57180"/>
                  <a:pt x="104805" y="57180"/>
                </a:cubicBezTo>
                <a:lnTo>
                  <a:pt x="94923" y="57180"/>
                </a:lnTo>
                <a:cubicBezTo>
                  <a:pt x="92035" y="57180"/>
                  <a:pt x="89297" y="55870"/>
                  <a:pt x="87481" y="53608"/>
                </a:cubicBezTo>
                <a:lnTo>
                  <a:pt x="82153" y="46940"/>
                </a:lnTo>
                <a:cubicBezTo>
                  <a:pt x="75307" y="38368"/>
                  <a:pt x="64919" y="33367"/>
                  <a:pt x="53935" y="33367"/>
                </a:cubicBezTo>
                <a:cubicBezTo>
                  <a:pt x="44351" y="33367"/>
                  <a:pt x="35153" y="37177"/>
                  <a:pt x="28396" y="43964"/>
                </a:cubicBezTo>
                <a:lnTo>
                  <a:pt x="17889" y="54352"/>
                </a:lnTo>
                <a:cubicBezTo>
                  <a:pt x="12531" y="59710"/>
                  <a:pt x="9525" y="66973"/>
                  <a:pt x="9525" y="74563"/>
                </a:cubicBezTo>
                <a:lnTo>
                  <a:pt x="9525" y="85725"/>
                </a:lnTo>
                <a:cubicBezTo>
                  <a:pt x="9525" y="90994"/>
                  <a:pt x="13781" y="95250"/>
                  <a:pt x="19050" y="95250"/>
                </a:cubicBezTo>
                <a:cubicBezTo>
                  <a:pt x="24319" y="95250"/>
                  <a:pt x="28575" y="90994"/>
                  <a:pt x="28575" y="85725"/>
                </a:cubicBezTo>
                <a:lnTo>
                  <a:pt x="28575" y="74563"/>
                </a:lnTo>
                <a:cubicBezTo>
                  <a:pt x="28575" y="72033"/>
                  <a:pt x="29587" y="69622"/>
                  <a:pt x="31373" y="67836"/>
                </a:cubicBezTo>
                <a:close/>
                <a:moveTo>
                  <a:pt x="35064" y="121235"/>
                </a:moveTo>
                <a:cubicBezTo>
                  <a:pt x="34617" y="122783"/>
                  <a:pt x="33784" y="124212"/>
                  <a:pt x="32653" y="125343"/>
                </a:cubicBezTo>
                <a:lnTo>
                  <a:pt x="12323" y="145673"/>
                </a:lnTo>
                <a:cubicBezTo>
                  <a:pt x="8602" y="149394"/>
                  <a:pt x="8602" y="155436"/>
                  <a:pt x="12323" y="159157"/>
                </a:cubicBezTo>
                <a:cubicBezTo>
                  <a:pt x="16044" y="162877"/>
                  <a:pt x="22086" y="162877"/>
                  <a:pt x="25807" y="159157"/>
                </a:cubicBezTo>
                <a:lnTo>
                  <a:pt x="46137" y="138827"/>
                </a:lnTo>
                <a:cubicBezTo>
                  <a:pt x="49560" y="135404"/>
                  <a:pt x="52060" y="131147"/>
                  <a:pt x="53400" y="126474"/>
                </a:cubicBezTo>
                <a:lnTo>
                  <a:pt x="54054" y="124212"/>
                </a:lnTo>
                <a:lnTo>
                  <a:pt x="40362" y="112484"/>
                </a:lnTo>
                <a:cubicBezTo>
                  <a:pt x="39618" y="111829"/>
                  <a:pt x="38874" y="111175"/>
                  <a:pt x="38160" y="110460"/>
                </a:cubicBezTo>
                <a:lnTo>
                  <a:pt x="35064" y="121235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2" name="Text 30"/>
          <p:cNvSpPr/>
          <p:nvPr/>
        </p:nvSpPr>
        <p:spPr>
          <a:xfrm>
            <a:off x="7341840" y="40005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Случайное блуждание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75140" y="43053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Положение частицы в следующий момент зависит только от текущего положения.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60840" y="4914900"/>
            <a:ext cx="4657725" cy="914400"/>
          </a:xfrm>
          <a:custGeom>
            <a:avLst/>
            <a:gdLst/>
            <a:ahLst/>
            <a:cxnLst/>
            <a:rect l="l" t="t" r="r" b="b"/>
            <a:pathLst>
              <a:path w="4657725" h="914400">
                <a:moveTo>
                  <a:pt x="76197" y="0"/>
                </a:moveTo>
                <a:lnTo>
                  <a:pt x="4581528" y="0"/>
                </a:lnTo>
                <a:cubicBezTo>
                  <a:pt x="4623610" y="0"/>
                  <a:pt x="4657725" y="34115"/>
                  <a:pt x="4657725" y="76197"/>
                </a:cubicBezTo>
                <a:lnTo>
                  <a:pt x="4657725" y="838203"/>
                </a:lnTo>
                <a:cubicBezTo>
                  <a:pt x="4657725" y="880285"/>
                  <a:pt x="4623610" y="914400"/>
                  <a:pt x="45815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7075140" y="5067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144" y="-4762"/>
                </a:moveTo>
                <a:cubicBezTo>
                  <a:pt x="3185" y="-4762"/>
                  <a:pt x="0" y="-1578"/>
                  <a:pt x="0" y="2381"/>
                </a:cubicBezTo>
                <a:cubicBezTo>
                  <a:pt x="0" y="6340"/>
                  <a:pt x="3185" y="9525"/>
                  <a:pt x="7144" y="9525"/>
                </a:cubicBezTo>
                <a:lnTo>
                  <a:pt x="20628" y="9525"/>
                </a:lnTo>
                <a:cubicBezTo>
                  <a:pt x="21788" y="9525"/>
                  <a:pt x="22771" y="10358"/>
                  <a:pt x="22979" y="11490"/>
                </a:cubicBezTo>
                <a:lnTo>
                  <a:pt x="38487" y="96709"/>
                </a:lnTo>
                <a:cubicBezTo>
                  <a:pt x="40332" y="106888"/>
                  <a:pt x="49203" y="114300"/>
                  <a:pt x="59561" y="114300"/>
                </a:cubicBezTo>
                <a:lnTo>
                  <a:pt x="135731" y="114300"/>
                </a:lnTo>
                <a:cubicBezTo>
                  <a:pt x="139690" y="114300"/>
                  <a:pt x="142875" y="111115"/>
                  <a:pt x="142875" y="107156"/>
                </a:cubicBezTo>
                <a:cubicBezTo>
                  <a:pt x="142875" y="103197"/>
                  <a:pt x="139690" y="100013"/>
                  <a:pt x="135731" y="100013"/>
                </a:cubicBezTo>
                <a:lnTo>
                  <a:pt x="59561" y="100013"/>
                </a:lnTo>
                <a:cubicBezTo>
                  <a:pt x="56108" y="100013"/>
                  <a:pt x="53161" y="97542"/>
                  <a:pt x="52536" y="94149"/>
                </a:cubicBezTo>
                <a:lnTo>
                  <a:pt x="51018" y="85725"/>
                </a:lnTo>
                <a:lnTo>
                  <a:pt x="141387" y="85725"/>
                </a:lnTo>
                <a:cubicBezTo>
                  <a:pt x="150555" y="85725"/>
                  <a:pt x="158413" y="79206"/>
                  <a:pt x="160109" y="70187"/>
                </a:cubicBezTo>
                <a:lnTo>
                  <a:pt x="169337" y="20806"/>
                </a:lnTo>
                <a:cubicBezTo>
                  <a:pt x="170438" y="14942"/>
                  <a:pt x="165943" y="9525"/>
                  <a:pt x="159960" y="9525"/>
                </a:cubicBezTo>
                <a:lnTo>
                  <a:pt x="37118" y="9525"/>
                </a:lnTo>
                <a:lnTo>
                  <a:pt x="36999" y="8930"/>
                </a:lnTo>
                <a:cubicBezTo>
                  <a:pt x="35570" y="1012"/>
                  <a:pt x="28664" y="-4762"/>
                  <a:pt x="20598" y="-4762"/>
                </a:cubicBezTo>
                <a:lnTo>
                  <a:pt x="7144" y="-4762"/>
                </a:lnTo>
                <a:close/>
                <a:moveTo>
                  <a:pt x="61912" y="152400"/>
                </a:moveTo>
                <a:cubicBezTo>
                  <a:pt x="69798" y="152400"/>
                  <a:pt x="76200" y="145998"/>
                  <a:pt x="76200" y="138113"/>
                </a:cubicBezTo>
                <a:cubicBezTo>
                  <a:pt x="76200" y="130227"/>
                  <a:pt x="69798" y="123825"/>
                  <a:pt x="61912" y="123825"/>
                </a:cubicBezTo>
                <a:cubicBezTo>
                  <a:pt x="54027" y="123825"/>
                  <a:pt x="47625" y="130227"/>
                  <a:pt x="47625" y="138113"/>
                </a:cubicBezTo>
                <a:cubicBezTo>
                  <a:pt x="47625" y="145998"/>
                  <a:pt x="54027" y="152400"/>
                  <a:pt x="61912" y="152400"/>
                </a:cubicBezTo>
                <a:close/>
                <a:moveTo>
                  <a:pt x="128588" y="152400"/>
                </a:moveTo>
                <a:cubicBezTo>
                  <a:pt x="136473" y="152400"/>
                  <a:pt x="142875" y="145998"/>
                  <a:pt x="142875" y="138113"/>
                </a:cubicBezTo>
                <a:cubicBezTo>
                  <a:pt x="142875" y="130227"/>
                  <a:pt x="136473" y="123825"/>
                  <a:pt x="128588" y="123825"/>
                </a:cubicBezTo>
                <a:cubicBezTo>
                  <a:pt x="120702" y="123825"/>
                  <a:pt x="114300" y="130227"/>
                  <a:pt x="114300" y="138113"/>
                </a:cubicBezTo>
                <a:cubicBezTo>
                  <a:pt x="114300" y="145998"/>
                  <a:pt x="120702" y="152400"/>
                  <a:pt x="128588" y="15240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6" name="Text 34"/>
          <p:cNvSpPr/>
          <p:nvPr/>
        </p:nvSpPr>
        <p:spPr>
          <a:xfrm>
            <a:off x="734184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Поведение покупателя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75140" y="53340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Решение о покупке зависит от текущего состояния (например, наличия товара в корзине).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08695" y="5143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38150"/>
            <a:ext cx="3514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Марковская цепь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89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219200"/>
            <a:ext cx="6781800" cy="2095500"/>
          </a:xfrm>
          <a:custGeom>
            <a:avLst/>
            <a:gdLst/>
            <a:ahLst/>
            <a:cxnLst/>
            <a:rect l="l" t="t" r="r" b="b"/>
            <a:pathLst>
              <a:path w="6781800" h="2095500">
                <a:moveTo>
                  <a:pt x="114310" y="0"/>
                </a:moveTo>
                <a:lnTo>
                  <a:pt x="6667490" y="0"/>
                </a:lnTo>
                <a:cubicBezTo>
                  <a:pt x="6730622" y="0"/>
                  <a:pt x="6781800" y="51178"/>
                  <a:pt x="6781800" y="114310"/>
                </a:cubicBezTo>
                <a:lnTo>
                  <a:pt x="6781800" y="1981190"/>
                </a:lnTo>
                <a:cubicBezTo>
                  <a:pt x="6781800" y="2044322"/>
                  <a:pt x="6730622" y="2095500"/>
                  <a:pt x="6667490" y="2095500"/>
                </a:cubicBezTo>
                <a:lnTo>
                  <a:pt x="114310" y="2095500"/>
                </a:lnTo>
                <a:cubicBezTo>
                  <a:pt x="51178" y="2095500"/>
                  <a:pt x="0" y="2044322"/>
                  <a:pt x="0" y="198119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571501" y="1409700"/>
            <a:ext cx="649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Определение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790700"/>
            <a:ext cx="647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Марковская цепь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это марковский процесс с дискретным временем и дискретным пространством состояний.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400300"/>
            <a:ext cx="6400800" cy="723900"/>
          </a:xfrm>
          <a:custGeom>
            <a:avLst/>
            <a:gdLst/>
            <a:ahLst/>
            <a:cxnLst/>
            <a:rect l="l" t="t" r="r" b="b"/>
            <a:pathLst>
              <a:path w="6400800" h="723900">
                <a:moveTo>
                  <a:pt x="76198" y="0"/>
                </a:moveTo>
                <a:lnTo>
                  <a:pt x="6324602" y="0"/>
                </a:lnTo>
                <a:cubicBezTo>
                  <a:pt x="6366657" y="0"/>
                  <a:pt x="6400800" y="34143"/>
                  <a:pt x="6400800" y="76198"/>
                </a:cubicBezTo>
                <a:lnTo>
                  <a:pt x="6400800" y="647702"/>
                </a:lnTo>
                <a:cubicBezTo>
                  <a:pt x="6400800" y="689757"/>
                  <a:pt x="6366657" y="723900"/>
                  <a:pt x="63246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623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Пространство состояний: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781300"/>
            <a:ext cx="624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 = {1, 2, ..., N} — конечное или счётное множество возможных состояний системы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467100"/>
            <a:ext cx="6762750" cy="1962150"/>
          </a:xfrm>
          <a:custGeom>
            <a:avLst/>
            <a:gdLst/>
            <a:ahLst/>
            <a:cxnLst/>
            <a:rect l="l" t="t" r="r" b="b"/>
            <a:pathLst>
              <a:path w="6762750" h="1962150">
                <a:moveTo>
                  <a:pt x="38100" y="0"/>
                </a:moveTo>
                <a:lnTo>
                  <a:pt x="6648455" y="0"/>
                </a:lnTo>
                <a:cubicBezTo>
                  <a:pt x="6711578" y="0"/>
                  <a:pt x="6762750" y="51172"/>
                  <a:pt x="6762750" y="114295"/>
                </a:cubicBezTo>
                <a:lnTo>
                  <a:pt x="6762750" y="1847855"/>
                </a:lnTo>
                <a:cubicBezTo>
                  <a:pt x="6762750" y="1910978"/>
                  <a:pt x="6711578" y="1962150"/>
                  <a:pt x="6648455" y="1962150"/>
                </a:cubicBezTo>
                <a:lnTo>
                  <a:pt x="38100" y="1962150"/>
                </a:lnTo>
                <a:cubicBezTo>
                  <a:pt x="17072" y="1962150"/>
                  <a:pt x="0" y="1945078"/>
                  <a:pt x="0" y="1924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0050" y="3467100"/>
            <a:ext cx="38100" cy="1962150"/>
          </a:xfrm>
          <a:custGeom>
            <a:avLst/>
            <a:gdLst/>
            <a:ahLst/>
            <a:cxnLst/>
            <a:rect l="l" t="t" r="r" b="b"/>
            <a:pathLst>
              <a:path w="38100" h="1962150">
                <a:moveTo>
                  <a:pt x="38100" y="0"/>
                </a:moveTo>
                <a:lnTo>
                  <a:pt x="38100" y="0"/>
                </a:lnTo>
                <a:lnTo>
                  <a:pt x="38100" y="1962150"/>
                </a:lnTo>
                <a:lnTo>
                  <a:pt x="38100" y="1962150"/>
                </a:lnTo>
                <a:cubicBezTo>
                  <a:pt x="17072" y="1962150"/>
                  <a:pt x="0" y="1945078"/>
                  <a:pt x="0" y="1924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83407" y="3657600"/>
            <a:ext cx="64841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Граф переходов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038600"/>
            <a:ext cx="6438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Марковскую цепь удобно представлять в виде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ориентированного графа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где: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4005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Вершины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состояния системы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7053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Дуги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возможные переходы между состояниями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0101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Веса дуг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вероятности переходов p</a:t>
            </a: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581650"/>
            <a:ext cx="6781800" cy="1247775"/>
          </a:xfrm>
          <a:custGeom>
            <a:avLst/>
            <a:gdLst/>
            <a:ahLst/>
            <a:cxnLst/>
            <a:rect l="l" t="t" r="r" b="b"/>
            <a:pathLst>
              <a:path w="6781800" h="1247775">
                <a:moveTo>
                  <a:pt x="114296" y="0"/>
                </a:moveTo>
                <a:lnTo>
                  <a:pt x="6667504" y="0"/>
                </a:lnTo>
                <a:cubicBezTo>
                  <a:pt x="6730628" y="0"/>
                  <a:pt x="6781800" y="51172"/>
                  <a:pt x="6781800" y="114296"/>
                </a:cubicBezTo>
                <a:lnTo>
                  <a:pt x="6781800" y="1133479"/>
                </a:lnTo>
                <a:cubicBezTo>
                  <a:pt x="6781800" y="1196603"/>
                  <a:pt x="6730628" y="1247775"/>
                  <a:pt x="6667504" y="1247775"/>
                </a:cubicBezTo>
                <a:lnTo>
                  <a:pt x="114296" y="1247775"/>
                </a:lnTo>
                <a:cubicBezTo>
                  <a:pt x="51172" y="1247775"/>
                  <a:pt x="0" y="1196603"/>
                  <a:pt x="0" y="11334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" y="5734050"/>
            <a:ext cx="652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Типы марковских цепей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400" y="6076950"/>
            <a:ext cx="3181350" cy="600075"/>
          </a:xfrm>
          <a:custGeom>
            <a:avLst/>
            <a:gdLst/>
            <a:ahLst/>
            <a:cxnLst/>
            <a:rect l="l" t="t" r="r" b="b"/>
            <a:pathLst>
              <a:path w="3181350" h="600075">
                <a:moveTo>
                  <a:pt x="76198" y="0"/>
                </a:moveTo>
                <a:lnTo>
                  <a:pt x="3105152" y="0"/>
                </a:lnTo>
                <a:cubicBezTo>
                  <a:pt x="3147235" y="0"/>
                  <a:pt x="3181350" y="34115"/>
                  <a:pt x="3181350" y="76198"/>
                </a:cubicBezTo>
                <a:lnTo>
                  <a:pt x="3181350" y="523877"/>
                </a:lnTo>
                <a:cubicBezTo>
                  <a:pt x="3181350" y="565960"/>
                  <a:pt x="3147235" y="600075"/>
                  <a:pt x="3105152" y="600075"/>
                </a:cubicBezTo>
                <a:lnTo>
                  <a:pt x="76198" y="600075"/>
                </a:lnTo>
                <a:cubicBezTo>
                  <a:pt x="34143" y="600075"/>
                  <a:pt x="0" y="565932"/>
                  <a:pt x="0" y="5238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7700" y="619125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Однородная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700" y="6419850"/>
            <a:ext cx="3009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Вероятности переходов не зависят от времени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29050" y="6076950"/>
            <a:ext cx="3181350" cy="600075"/>
          </a:xfrm>
          <a:custGeom>
            <a:avLst/>
            <a:gdLst/>
            <a:ahLst/>
            <a:cxnLst/>
            <a:rect l="l" t="t" r="r" b="b"/>
            <a:pathLst>
              <a:path w="3181350" h="600075">
                <a:moveTo>
                  <a:pt x="76198" y="0"/>
                </a:moveTo>
                <a:lnTo>
                  <a:pt x="3105152" y="0"/>
                </a:lnTo>
                <a:cubicBezTo>
                  <a:pt x="3147235" y="0"/>
                  <a:pt x="3181350" y="34115"/>
                  <a:pt x="3181350" y="76198"/>
                </a:cubicBezTo>
                <a:lnTo>
                  <a:pt x="3181350" y="523877"/>
                </a:lnTo>
                <a:cubicBezTo>
                  <a:pt x="3181350" y="565960"/>
                  <a:pt x="3147235" y="600075"/>
                  <a:pt x="3105152" y="600075"/>
                </a:cubicBezTo>
                <a:lnTo>
                  <a:pt x="76198" y="600075"/>
                </a:lnTo>
                <a:cubicBezTo>
                  <a:pt x="34143" y="600075"/>
                  <a:pt x="0" y="565932"/>
                  <a:pt x="0" y="5238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3943350" y="619125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Неоднородная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43350" y="6419850"/>
            <a:ext cx="3009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Вероятности зависят от времени: p</a:t>
            </a:r>
            <a:r>
              <a:rPr lang="en-US" sz="675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66000" y="1219200"/>
            <a:ext cx="4457700" cy="5610225"/>
          </a:xfrm>
          <a:custGeom>
            <a:avLst/>
            <a:gdLst/>
            <a:ahLst/>
            <a:cxnLst/>
            <a:rect l="l" t="t" r="r" b="b"/>
            <a:pathLst>
              <a:path w="4457700" h="5610225">
                <a:moveTo>
                  <a:pt x="114295" y="0"/>
                </a:moveTo>
                <a:lnTo>
                  <a:pt x="4343405" y="0"/>
                </a:lnTo>
                <a:cubicBezTo>
                  <a:pt x="4406486" y="0"/>
                  <a:pt x="4457700" y="51214"/>
                  <a:pt x="4457700" y="114295"/>
                </a:cubicBezTo>
                <a:lnTo>
                  <a:pt x="4457700" y="5495930"/>
                </a:lnTo>
                <a:cubicBezTo>
                  <a:pt x="4457700" y="5559011"/>
                  <a:pt x="4406486" y="5610225"/>
                  <a:pt x="4343405" y="5610225"/>
                </a:cubicBezTo>
                <a:lnTo>
                  <a:pt x="114295" y="5610225"/>
                </a:lnTo>
                <a:cubicBezTo>
                  <a:pt x="51214" y="5610225"/>
                  <a:pt x="0" y="5559011"/>
                  <a:pt x="0" y="54959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43800" y="1409700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Пример: пользователь сайта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43800" y="1828800"/>
            <a:ext cx="415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Рассмотрим цепь с тремя состояниями, моделирующую поведение пользователя: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43800" y="2476500"/>
            <a:ext cx="4076700" cy="647700"/>
          </a:xfrm>
          <a:custGeom>
            <a:avLst/>
            <a:gdLst/>
            <a:ahLst/>
            <a:cxnLst/>
            <a:rect l="l" t="t" r="r" b="b"/>
            <a:pathLst>
              <a:path w="4076700" h="6477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34117"/>
                  <a:pt x="4076700" y="76202"/>
                </a:cubicBezTo>
                <a:lnTo>
                  <a:pt x="4076700" y="571498"/>
                </a:lnTo>
                <a:cubicBezTo>
                  <a:pt x="4076700" y="613583"/>
                  <a:pt x="4042583" y="647700"/>
                  <a:pt x="4000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4" name="Shape 32"/>
          <p:cNvSpPr/>
          <p:nvPr/>
        </p:nvSpPr>
        <p:spPr>
          <a:xfrm>
            <a:off x="7658100" y="2609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0" y="26098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53400" y="25908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посещает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53400" y="281940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Пользователь не заходит на сайт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43800" y="3238500"/>
            <a:ext cx="4076700" cy="647700"/>
          </a:xfrm>
          <a:custGeom>
            <a:avLst/>
            <a:gdLst/>
            <a:ahLst/>
            <a:cxnLst/>
            <a:rect l="l" t="t" r="r" b="b"/>
            <a:pathLst>
              <a:path w="4076700" h="6477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34117"/>
                  <a:pt x="4076700" y="76202"/>
                </a:cubicBezTo>
                <a:lnTo>
                  <a:pt x="4076700" y="571498"/>
                </a:lnTo>
                <a:cubicBezTo>
                  <a:pt x="4076700" y="613583"/>
                  <a:pt x="4042583" y="647700"/>
                  <a:pt x="4000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9" name="Shape 37"/>
          <p:cNvSpPr/>
          <p:nvPr/>
        </p:nvSpPr>
        <p:spPr>
          <a:xfrm>
            <a:off x="7658100" y="3371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0" name="Text 38"/>
          <p:cNvSpPr/>
          <p:nvPr/>
        </p:nvSpPr>
        <p:spPr>
          <a:xfrm>
            <a:off x="7620000" y="33718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53400" y="33528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Посещает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53400" y="3581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Заходит, но не читает статьи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43800" y="4000500"/>
            <a:ext cx="4076700" cy="647700"/>
          </a:xfrm>
          <a:custGeom>
            <a:avLst/>
            <a:gdLst/>
            <a:ahLst/>
            <a:cxnLst/>
            <a:rect l="l" t="t" r="r" b="b"/>
            <a:pathLst>
              <a:path w="4076700" h="6477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34117"/>
                  <a:pt x="4076700" y="76202"/>
                </a:cubicBezTo>
                <a:lnTo>
                  <a:pt x="4076700" y="571498"/>
                </a:lnTo>
                <a:cubicBezTo>
                  <a:pt x="4076700" y="613583"/>
                  <a:pt x="4042583" y="647700"/>
                  <a:pt x="4000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4" name="Shape 42"/>
          <p:cNvSpPr/>
          <p:nvPr/>
        </p:nvSpPr>
        <p:spPr>
          <a:xfrm>
            <a:off x="7658100" y="4133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5" name="Text 43"/>
          <p:cNvSpPr/>
          <p:nvPr/>
        </p:nvSpPr>
        <p:spPr>
          <a:xfrm>
            <a:off x="7620000" y="41338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53400" y="411480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Читает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53400" y="434340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Посещает и читает статьи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56500" y="4819650"/>
            <a:ext cx="4076700" cy="762000"/>
          </a:xfrm>
          <a:custGeom>
            <a:avLst/>
            <a:gdLst/>
            <a:ahLst/>
            <a:cxnLst/>
            <a:rect l="l" t="t" r="r" b="b"/>
            <a:pathLst>
              <a:path w="4076700" h="7620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40137"/>
                  <a:pt x="4076700" y="89649"/>
                </a:cubicBezTo>
                <a:lnTo>
                  <a:pt x="4076700" y="672351"/>
                </a:lnTo>
                <a:cubicBezTo>
                  <a:pt x="4076700" y="721863"/>
                  <a:pt x="4042583" y="762000"/>
                  <a:pt x="4000498" y="762000"/>
                </a:cubicBezTo>
                <a:lnTo>
                  <a:pt x="76202" y="762000"/>
                </a:lnTo>
                <a:cubicBezTo>
                  <a:pt x="34117" y="762000"/>
                  <a:pt x="0" y="721863"/>
                  <a:pt x="0" y="672351"/>
                </a:cubicBezTo>
                <a:lnTo>
                  <a:pt x="0" y="89649"/>
                </a:lnTo>
                <a:cubicBezTo>
                  <a:pt x="0" y="40171"/>
                  <a:pt x="34145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7637463" y="4819650"/>
            <a:ext cx="3914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Пользователь может переходить между состояниями с определёнными вероятностями, образуя марковскую цепь.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679" y="343679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103104" y="0"/>
                </a:moveTo>
                <a:lnTo>
                  <a:pt x="446782" y="0"/>
                </a:lnTo>
                <a:cubicBezTo>
                  <a:pt x="503687" y="0"/>
                  <a:pt x="549886" y="46199"/>
                  <a:pt x="549886" y="103104"/>
                </a:cubicBezTo>
                <a:lnTo>
                  <a:pt x="549886" y="446782"/>
                </a:lnTo>
                <a:cubicBezTo>
                  <a:pt x="549886" y="503687"/>
                  <a:pt x="503687" y="549886"/>
                  <a:pt x="446782" y="549886"/>
                </a:cubicBezTo>
                <a:lnTo>
                  <a:pt x="103104" y="549886"/>
                </a:lnTo>
                <a:cubicBezTo>
                  <a:pt x="46199" y="549886"/>
                  <a:pt x="0" y="503687"/>
                  <a:pt x="0" y="446782"/>
                </a:cubicBezTo>
                <a:lnTo>
                  <a:pt x="0" y="103104"/>
                </a:lnTo>
                <a:cubicBezTo>
                  <a:pt x="0" y="46199"/>
                  <a:pt x="46199" y="0"/>
                  <a:pt x="103104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62221" y="463966"/>
            <a:ext cx="438190" cy="30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1036" y="395230"/>
            <a:ext cx="3634402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Матрица переходов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1036" y="807645"/>
            <a:ext cx="1099772" cy="34368"/>
          </a:xfrm>
          <a:custGeom>
            <a:avLst/>
            <a:gdLst/>
            <a:ahLst/>
            <a:cxnLst/>
            <a:rect l="l" t="t" r="r" b="b"/>
            <a:pathLst>
              <a:path w="1099772" h="34368">
                <a:moveTo>
                  <a:pt x="0" y="0"/>
                </a:moveTo>
                <a:lnTo>
                  <a:pt x="1099772" y="0"/>
                </a:lnTo>
                <a:lnTo>
                  <a:pt x="1099772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343679" y="1099772"/>
            <a:ext cx="5662106" cy="2113624"/>
          </a:xfrm>
          <a:custGeom>
            <a:avLst/>
            <a:gdLst/>
            <a:ahLst/>
            <a:cxnLst/>
            <a:rect l="l" t="t" r="r" b="b"/>
            <a:pathLst>
              <a:path w="5662106" h="2113624">
                <a:moveTo>
                  <a:pt x="103103" y="0"/>
                </a:moveTo>
                <a:lnTo>
                  <a:pt x="5559003" y="0"/>
                </a:lnTo>
                <a:cubicBezTo>
                  <a:pt x="5615945" y="0"/>
                  <a:pt x="5662106" y="46161"/>
                  <a:pt x="5662106" y="103103"/>
                </a:cubicBezTo>
                <a:lnTo>
                  <a:pt x="5662106" y="2010521"/>
                </a:lnTo>
                <a:cubicBezTo>
                  <a:pt x="5662106" y="2067425"/>
                  <a:pt x="5615907" y="2113624"/>
                  <a:pt x="5559003" y="2113624"/>
                </a:cubicBezTo>
                <a:lnTo>
                  <a:pt x="103103" y="2113624"/>
                </a:lnTo>
                <a:cubicBezTo>
                  <a:pt x="46161" y="2113624"/>
                  <a:pt x="0" y="2067463"/>
                  <a:pt x="0" y="2010521"/>
                </a:cubicBezTo>
                <a:lnTo>
                  <a:pt x="0" y="103103"/>
                </a:lnTo>
                <a:cubicBezTo>
                  <a:pt x="0" y="46199"/>
                  <a:pt x="46199" y="0"/>
                  <a:pt x="1031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  <a:effectLst>
            <a:outerShdw blurRad="214799" dist="17183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5518" y="1271611"/>
            <a:ext cx="540434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Определение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5518" y="1615290"/>
            <a:ext cx="5387163" cy="670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Матрица переходных вероятностей</a:t>
            </a:r>
            <a:r>
              <a:rPr lang="en-US" sz="108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 = [p</a:t>
            </a:r>
            <a:r>
              <a:rPr lang="en-US" sz="8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08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— квадратная матрица, где элемент p</a:t>
            </a:r>
            <a:r>
              <a:rPr lang="en-US" sz="8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08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равен вероятности перехода из состояния i в состояние j за один шаг.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518" y="2388567"/>
            <a:ext cx="5318427" cy="652989"/>
          </a:xfrm>
          <a:custGeom>
            <a:avLst/>
            <a:gdLst/>
            <a:ahLst/>
            <a:cxnLst/>
            <a:rect l="l" t="t" r="r" b="b"/>
            <a:pathLst>
              <a:path w="5318427" h="652989">
                <a:moveTo>
                  <a:pt x="68734" y="0"/>
                </a:moveTo>
                <a:lnTo>
                  <a:pt x="5249693" y="0"/>
                </a:lnTo>
                <a:cubicBezTo>
                  <a:pt x="5287654" y="0"/>
                  <a:pt x="5318427" y="30773"/>
                  <a:pt x="5318427" y="68734"/>
                </a:cubicBezTo>
                <a:lnTo>
                  <a:pt x="5318427" y="584256"/>
                </a:lnTo>
                <a:cubicBezTo>
                  <a:pt x="5318427" y="622216"/>
                  <a:pt x="5287654" y="652989"/>
                  <a:pt x="5249693" y="652989"/>
                </a:cubicBezTo>
                <a:lnTo>
                  <a:pt x="68734" y="652989"/>
                </a:lnTo>
                <a:cubicBezTo>
                  <a:pt x="30799" y="652989"/>
                  <a:pt x="0" y="622191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8622" y="2491670"/>
            <a:ext cx="517236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Формула: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622" y="2732245"/>
            <a:ext cx="518095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r>
              <a:rPr lang="en-US" sz="8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08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P(X</a:t>
            </a:r>
            <a:r>
              <a:rPr lang="en-US" sz="8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n+1</a:t>
            </a:r>
            <a:r>
              <a:rPr lang="en-US" sz="108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j | X</a:t>
            </a:r>
            <a:r>
              <a:rPr lang="en-US" sz="8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08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i)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0863" y="3350867"/>
            <a:ext cx="5644922" cy="2852533"/>
          </a:xfrm>
          <a:custGeom>
            <a:avLst/>
            <a:gdLst/>
            <a:ahLst/>
            <a:cxnLst/>
            <a:rect l="l" t="t" r="r" b="b"/>
            <a:pathLst>
              <a:path w="5644922" h="2852533">
                <a:moveTo>
                  <a:pt x="34368" y="0"/>
                </a:moveTo>
                <a:lnTo>
                  <a:pt x="5541831" y="0"/>
                </a:lnTo>
                <a:cubicBezTo>
                  <a:pt x="5598767" y="0"/>
                  <a:pt x="5644922" y="46155"/>
                  <a:pt x="5644922" y="103091"/>
                </a:cubicBezTo>
                <a:lnTo>
                  <a:pt x="5644922" y="2749442"/>
                </a:lnTo>
                <a:cubicBezTo>
                  <a:pt x="5644922" y="2806378"/>
                  <a:pt x="5598767" y="2852533"/>
                  <a:pt x="5541831" y="2852533"/>
                </a:cubicBezTo>
                <a:lnTo>
                  <a:pt x="34368" y="2852533"/>
                </a:lnTo>
                <a:cubicBezTo>
                  <a:pt x="15387" y="2852533"/>
                  <a:pt x="0" y="2837146"/>
                  <a:pt x="0" y="281816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879" dist="8592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863" y="3350867"/>
            <a:ext cx="34368" cy="2852533"/>
          </a:xfrm>
          <a:custGeom>
            <a:avLst/>
            <a:gdLst/>
            <a:ahLst/>
            <a:cxnLst/>
            <a:rect l="l" t="t" r="r" b="b"/>
            <a:pathLst>
              <a:path w="34368" h="2852533">
                <a:moveTo>
                  <a:pt x="34368" y="0"/>
                </a:moveTo>
                <a:lnTo>
                  <a:pt x="34368" y="0"/>
                </a:lnTo>
                <a:lnTo>
                  <a:pt x="34368" y="2852533"/>
                </a:lnTo>
                <a:lnTo>
                  <a:pt x="34368" y="2852533"/>
                </a:lnTo>
                <a:cubicBezTo>
                  <a:pt x="15387" y="2852533"/>
                  <a:pt x="0" y="2837146"/>
                  <a:pt x="0" y="281816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6" name="Text 14"/>
          <p:cNvSpPr/>
          <p:nvPr/>
        </p:nvSpPr>
        <p:spPr>
          <a:xfrm>
            <a:off x="564250" y="3508101"/>
            <a:ext cx="515518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Свойства стохастической матрицы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9886" y="3866385"/>
            <a:ext cx="5284059" cy="652989"/>
          </a:xfrm>
          <a:custGeom>
            <a:avLst/>
            <a:gdLst/>
            <a:ahLst/>
            <a:cxnLst/>
            <a:rect l="l" t="t" r="r" b="b"/>
            <a:pathLst>
              <a:path w="5284059" h="652989">
                <a:moveTo>
                  <a:pt x="68734" y="0"/>
                </a:moveTo>
                <a:lnTo>
                  <a:pt x="5215326" y="0"/>
                </a:lnTo>
                <a:cubicBezTo>
                  <a:pt x="5253286" y="0"/>
                  <a:pt x="5284059" y="30773"/>
                  <a:pt x="5284059" y="68734"/>
                </a:cubicBezTo>
                <a:lnTo>
                  <a:pt x="5284059" y="584256"/>
                </a:lnTo>
                <a:cubicBezTo>
                  <a:pt x="5284059" y="622216"/>
                  <a:pt x="5253286" y="652989"/>
                  <a:pt x="5215326" y="652989"/>
                </a:cubicBezTo>
                <a:lnTo>
                  <a:pt x="68734" y="652989"/>
                </a:lnTo>
                <a:cubicBezTo>
                  <a:pt x="30799" y="652989"/>
                  <a:pt x="0" y="622191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52989" y="3969488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Неотрицательность: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989" y="4210063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r>
              <a:rPr lang="en-US" sz="81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≥ 0 для всех i, j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9886" y="4622478"/>
            <a:ext cx="5284059" cy="652989"/>
          </a:xfrm>
          <a:custGeom>
            <a:avLst/>
            <a:gdLst/>
            <a:ahLst/>
            <a:cxnLst/>
            <a:rect l="l" t="t" r="r" b="b"/>
            <a:pathLst>
              <a:path w="5284059" h="652989">
                <a:moveTo>
                  <a:pt x="68734" y="0"/>
                </a:moveTo>
                <a:lnTo>
                  <a:pt x="5215326" y="0"/>
                </a:lnTo>
                <a:cubicBezTo>
                  <a:pt x="5253286" y="0"/>
                  <a:pt x="5284059" y="30773"/>
                  <a:pt x="5284059" y="68734"/>
                </a:cubicBezTo>
                <a:lnTo>
                  <a:pt x="5284059" y="584256"/>
                </a:lnTo>
                <a:cubicBezTo>
                  <a:pt x="5284059" y="622216"/>
                  <a:pt x="5253286" y="652989"/>
                  <a:pt x="5215326" y="652989"/>
                </a:cubicBezTo>
                <a:lnTo>
                  <a:pt x="68734" y="652989"/>
                </a:lnTo>
                <a:cubicBezTo>
                  <a:pt x="30799" y="652989"/>
                  <a:pt x="0" y="622191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52989" y="4725581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Нормировка: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2989" y="4966156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Σ</a:t>
            </a:r>
            <a:r>
              <a:rPr lang="en-US" sz="81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</a:t>
            </a:r>
            <a:r>
              <a:rPr lang="en-US" sz="81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1 для всех 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9886" y="5378571"/>
            <a:ext cx="5284059" cy="652989"/>
          </a:xfrm>
          <a:custGeom>
            <a:avLst/>
            <a:gdLst/>
            <a:ahLst/>
            <a:cxnLst/>
            <a:rect l="l" t="t" r="r" b="b"/>
            <a:pathLst>
              <a:path w="5284059" h="652989">
                <a:moveTo>
                  <a:pt x="68734" y="0"/>
                </a:moveTo>
                <a:lnTo>
                  <a:pt x="5215326" y="0"/>
                </a:lnTo>
                <a:cubicBezTo>
                  <a:pt x="5253286" y="0"/>
                  <a:pt x="5284059" y="30773"/>
                  <a:pt x="5284059" y="68734"/>
                </a:cubicBezTo>
                <a:lnTo>
                  <a:pt x="5284059" y="584256"/>
                </a:lnTo>
                <a:cubicBezTo>
                  <a:pt x="5284059" y="622216"/>
                  <a:pt x="5253286" y="652989"/>
                  <a:pt x="5215326" y="652989"/>
                </a:cubicBezTo>
                <a:lnTo>
                  <a:pt x="68734" y="652989"/>
                </a:lnTo>
                <a:cubicBezTo>
                  <a:pt x="30799" y="652989"/>
                  <a:pt x="0" y="622191"/>
                  <a:pt x="0" y="584256"/>
                </a:cubicBezTo>
                <a:lnTo>
                  <a:pt x="0" y="68734"/>
                </a:lnTo>
                <a:cubicBezTo>
                  <a:pt x="0" y="30799"/>
                  <a:pt x="30799" y="0"/>
                  <a:pt x="6873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52989" y="5481674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Размерность: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2989" y="5722249"/>
            <a:ext cx="514658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 × N, где N — число состояний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0443" y="1099772"/>
            <a:ext cx="5662106" cy="4588110"/>
          </a:xfrm>
          <a:custGeom>
            <a:avLst/>
            <a:gdLst/>
            <a:ahLst/>
            <a:cxnLst/>
            <a:rect l="l" t="t" r="r" b="b"/>
            <a:pathLst>
              <a:path w="5662106" h="4588110">
                <a:moveTo>
                  <a:pt x="103095" y="0"/>
                </a:moveTo>
                <a:lnTo>
                  <a:pt x="5559011" y="0"/>
                </a:lnTo>
                <a:cubicBezTo>
                  <a:pt x="5615949" y="0"/>
                  <a:pt x="5662106" y="46157"/>
                  <a:pt x="5662106" y="103095"/>
                </a:cubicBezTo>
                <a:lnTo>
                  <a:pt x="5662106" y="4485015"/>
                </a:lnTo>
                <a:cubicBezTo>
                  <a:pt x="5662106" y="4541953"/>
                  <a:pt x="5615949" y="4588110"/>
                  <a:pt x="5559011" y="4588110"/>
                </a:cubicBezTo>
                <a:lnTo>
                  <a:pt x="103095" y="4588110"/>
                </a:lnTo>
                <a:cubicBezTo>
                  <a:pt x="46157" y="4588110"/>
                  <a:pt x="0" y="4541953"/>
                  <a:pt x="0" y="4485015"/>
                </a:cubicBezTo>
                <a:lnTo>
                  <a:pt x="0" y="103095"/>
                </a:lnTo>
                <a:cubicBezTo>
                  <a:pt x="0" y="46195"/>
                  <a:pt x="46195" y="0"/>
                  <a:pt x="1030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14799" dist="17183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8" name="Text 26"/>
          <p:cNvSpPr/>
          <p:nvPr/>
        </p:nvSpPr>
        <p:spPr>
          <a:xfrm>
            <a:off x="6339394" y="1271611"/>
            <a:ext cx="5417235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Пример матрицы 2×2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2282" y="1649658"/>
            <a:ext cx="5318427" cy="1563738"/>
          </a:xfrm>
          <a:custGeom>
            <a:avLst/>
            <a:gdLst/>
            <a:ahLst/>
            <a:cxnLst/>
            <a:rect l="l" t="t" r="r" b="b"/>
            <a:pathLst>
              <a:path w="5318427" h="1563738">
                <a:moveTo>
                  <a:pt x="68730" y="0"/>
                </a:moveTo>
                <a:lnTo>
                  <a:pt x="5249697" y="0"/>
                </a:lnTo>
                <a:cubicBezTo>
                  <a:pt x="5287656" y="0"/>
                  <a:pt x="5318427" y="31463"/>
                  <a:pt x="5318427" y="70274"/>
                </a:cubicBezTo>
                <a:lnTo>
                  <a:pt x="5318427" y="1493463"/>
                </a:lnTo>
                <a:cubicBezTo>
                  <a:pt x="5318427" y="1532275"/>
                  <a:pt x="5287656" y="1563738"/>
                  <a:pt x="5249697" y="1563738"/>
                </a:cubicBezTo>
                <a:lnTo>
                  <a:pt x="68730" y="1563738"/>
                </a:lnTo>
                <a:cubicBezTo>
                  <a:pt x="30771" y="1563738"/>
                  <a:pt x="0" y="1532275"/>
                  <a:pt x="0" y="1493463"/>
                </a:cubicBezTo>
                <a:lnTo>
                  <a:pt x="0" y="70274"/>
                </a:lnTo>
                <a:cubicBezTo>
                  <a:pt x="0" y="31489"/>
                  <a:pt x="30797" y="0"/>
                  <a:pt x="6873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386" y="1787129"/>
            <a:ext cx="1397142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 =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858350"/>
              </p:ext>
            </p:extLst>
          </p:nvPr>
        </p:nvGraphicFramePr>
        <p:xfrm>
          <a:off x="8024367" y="1825390"/>
          <a:ext cx="1615738" cy="1143000"/>
        </p:xfrm>
        <a:graphic>
          <a:graphicData uri="http://schemas.openxmlformats.org/drawingml/2006/table">
            <a:tbl>
              <a:tblPr/>
              <a:tblGrid>
                <a:gridCol w="80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06207" marR="206207" marT="103104" marB="103104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06207" marR="206207" marT="103104" marB="103104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06207" marR="206207" marT="103104" marB="103104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06207" marR="206207" marT="103104" marB="103104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352282" y="3316499"/>
            <a:ext cx="5318427" cy="378047"/>
          </a:xfrm>
          <a:custGeom>
            <a:avLst/>
            <a:gdLst/>
            <a:ahLst/>
            <a:cxnLst/>
            <a:rect l="l" t="t" r="r" b="b"/>
            <a:pathLst>
              <a:path w="5318427" h="378047">
                <a:moveTo>
                  <a:pt x="68736" y="0"/>
                </a:moveTo>
                <a:lnTo>
                  <a:pt x="5249691" y="0"/>
                </a:lnTo>
                <a:cubicBezTo>
                  <a:pt x="5287653" y="0"/>
                  <a:pt x="5318427" y="30774"/>
                  <a:pt x="5318427" y="68736"/>
                </a:cubicBezTo>
                <a:lnTo>
                  <a:pt x="5318427" y="309310"/>
                </a:lnTo>
                <a:cubicBezTo>
                  <a:pt x="5318427" y="347272"/>
                  <a:pt x="5287653" y="378047"/>
                  <a:pt x="5249691" y="378047"/>
                </a:cubicBezTo>
                <a:lnTo>
                  <a:pt x="68736" y="378047"/>
                </a:lnTo>
                <a:cubicBezTo>
                  <a:pt x="30800" y="378047"/>
                  <a:pt x="0" y="347247"/>
                  <a:pt x="0" y="309310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3" name="Text 30"/>
          <p:cNvSpPr/>
          <p:nvPr/>
        </p:nvSpPr>
        <p:spPr>
          <a:xfrm>
            <a:off x="6455386" y="3419603"/>
            <a:ext cx="517236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p₁₁ = 0.7:</a:t>
            </a:r>
            <a:r>
              <a:rPr lang="en-US" sz="94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вероятность остаться в состоянии 1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52282" y="3763281"/>
            <a:ext cx="5318427" cy="378047"/>
          </a:xfrm>
          <a:custGeom>
            <a:avLst/>
            <a:gdLst/>
            <a:ahLst/>
            <a:cxnLst/>
            <a:rect l="l" t="t" r="r" b="b"/>
            <a:pathLst>
              <a:path w="5318427" h="378047">
                <a:moveTo>
                  <a:pt x="68736" y="0"/>
                </a:moveTo>
                <a:lnTo>
                  <a:pt x="5249691" y="0"/>
                </a:lnTo>
                <a:cubicBezTo>
                  <a:pt x="5287653" y="0"/>
                  <a:pt x="5318427" y="30774"/>
                  <a:pt x="5318427" y="68736"/>
                </a:cubicBezTo>
                <a:lnTo>
                  <a:pt x="5318427" y="309310"/>
                </a:lnTo>
                <a:cubicBezTo>
                  <a:pt x="5318427" y="347272"/>
                  <a:pt x="5287653" y="378047"/>
                  <a:pt x="5249691" y="378047"/>
                </a:cubicBezTo>
                <a:lnTo>
                  <a:pt x="68736" y="378047"/>
                </a:lnTo>
                <a:cubicBezTo>
                  <a:pt x="30800" y="378047"/>
                  <a:pt x="0" y="347247"/>
                  <a:pt x="0" y="309310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5" name="Text 32"/>
          <p:cNvSpPr/>
          <p:nvPr/>
        </p:nvSpPr>
        <p:spPr>
          <a:xfrm>
            <a:off x="6455386" y="3866385"/>
            <a:ext cx="517236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p₁₂ = 0.3:</a:t>
            </a:r>
            <a:r>
              <a:rPr lang="en-US" sz="94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вероятность перейти из 1 в 2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52282" y="4210063"/>
            <a:ext cx="5318427" cy="378047"/>
          </a:xfrm>
          <a:custGeom>
            <a:avLst/>
            <a:gdLst/>
            <a:ahLst/>
            <a:cxnLst/>
            <a:rect l="l" t="t" r="r" b="b"/>
            <a:pathLst>
              <a:path w="5318427" h="378047">
                <a:moveTo>
                  <a:pt x="68736" y="0"/>
                </a:moveTo>
                <a:lnTo>
                  <a:pt x="5249691" y="0"/>
                </a:lnTo>
                <a:cubicBezTo>
                  <a:pt x="5287653" y="0"/>
                  <a:pt x="5318427" y="30774"/>
                  <a:pt x="5318427" y="68736"/>
                </a:cubicBezTo>
                <a:lnTo>
                  <a:pt x="5318427" y="309310"/>
                </a:lnTo>
                <a:cubicBezTo>
                  <a:pt x="5318427" y="347272"/>
                  <a:pt x="5287653" y="378047"/>
                  <a:pt x="5249691" y="378047"/>
                </a:cubicBezTo>
                <a:lnTo>
                  <a:pt x="68736" y="378047"/>
                </a:lnTo>
                <a:cubicBezTo>
                  <a:pt x="30800" y="378047"/>
                  <a:pt x="0" y="347247"/>
                  <a:pt x="0" y="309310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7" name="Text 34"/>
          <p:cNvSpPr/>
          <p:nvPr/>
        </p:nvSpPr>
        <p:spPr>
          <a:xfrm>
            <a:off x="6455386" y="4313167"/>
            <a:ext cx="517236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p₂₁ = 0.4:</a:t>
            </a:r>
            <a:r>
              <a:rPr lang="en-US" sz="94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вероятность перейти из 2 в 1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52282" y="4656846"/>
            <a:ext cx="5318427" cy="378047"/>
          </a:xfrm>
          <a:custGeom>
            <a:avLst/>
            <a:gdLst/>
            <a:ahLst/>
            <a:cxnLst/>
            <a:rect l="l" t="t" r="r" b="b"/>
            <a:pathLst>
              <a:path w="5318427" h="378047">
                <a:moveTo>
                  <a:pt x="68736" y="0"/>
                </a:moveTo>
                <a:lnTo>
                  <a:pt x="5249691" y="0"/>
                </a:lnTo>
                <a:cubicBezTo>
                  <a:pt x="5287653" y="0"/>
                  <a:pt x="5318427" y="30774"/>
                  <a:pt x="5318427" y="68736"/>
                </a:cubicBezTo>
                <a:lnTo>
                  <a:pt x="5318427" y="309310"/>
                </a:lnTo>
                <a:cubicBezTo>
                  <a:pt x="5318427" y="347272"/>
                  <a:pt x="5287653" y="378047"/>
                  <a:pt x="5249691" y="378047"/>
                </a:cubicBezTo>
                <a:lnTo>
                  <a:pt x="68736" y="378047"/>
                </a:lnTo>
                <a:cubicBezTo>
                  <a:pt x="30800" y="378047"/>
                  <a:pt x="0" y="347247"/>
                  <a:pt x="0" y="309310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9" name="Text 36"/>
          <p:cNvSpPr/>
          <p:nvPr/>
        </p:nvSpPr>
        <p:spPr>
          <a:xfrm>
            <a:off x="6455386" y="4759949"/>
            <a:ext cx="517236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p₂₂ = 0.6:</a:t>
            </a:r>
            <a:r>
              <a:rPr lang="en-US" sz="94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вероятность остаться в состоянии 2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52282" y="5137996"/>
            <a:ext cx="5318427" cy="378047"/>
          </a:xfrm>
          <a:custGeom>
            <a:avLst/>
            <a:gdLst/>
            <a:ahLst/>
            <a:cxnLst/>
            <a:rect l="l" t="t" r="r" b="b"/>
            <a:pathLst>
              <a:path w="5318427" h="378047">
                <a:moveTo>
                  <a:pt x="68736" y="0"/>
                </a:moveTo>
                <a:lnTo>
                  <a:pt x="5249691" y="0"/>
                </a:lnTo>
                <a:cubicBezTo>
                  <a:pt x="5287653" y="0"/>
                  <a:pt x="5318427" y="30774"/>
                  <a:pt x="5318427" y="68736"/>
                </a:cubicBezTo>
                <a:lnTo>
                  <a:pt x="5318427" y="309310"/>
                </a:lnTo>
                <a:cubicBezTo>
                  <a:pt x="5318427" y="347272"/>
                  <a:pt x="5287653" y="378047"/>
                  <a:pt x="5249691" y="378047"/>
                </a:cubicBezTo>
                <a:lnTo>
                  <a:pt x="68736" y="378047"/>
                </a:lnTo>
                <a:cubicBezTo>
                  <a:pt x="30800" y="378047"/>
                  <a:pt x="0" y="347247"/>
                  <a:pt x="0" y="309310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80088" y="5275467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2" name="Text 39"/>
          <p:cNvSpPr/>
          <p:nvPr/>
        </p:nvSpPr>
        <p:spPr>
          <a:xfrm>
            <a:off x="6656543" y="5241099"/>
            <a:ext cx="497120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Проверка: 0.7 + 0.3 = 1, 0.4 + 0.6 = 1 ✓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180443" y="5884728"/>
            <a:ext cx="5662106" cy="893564"/>
          </a:xfrm>
          <a:custGeom>
            <a:avLst/>
            <a:gdLst/>
            <a:ahLst/>
            <a:cxnLst/>
            <a:rect l="l" t="t" r="r" b="b"/>
            <a:pathLst>
              <a:path w="5662106" h="1031036">
                <a:moveTo>
                  <a:pt x="103104" y="0"/>
                </a:moveTo>
                <a:lnTo>
                  <a:pt x="5559002" y="0"/>
                </a:lnTo>
                <a:cubicBezTo>
                  <a:pt x="5615945" y="0"/>
                  <a:pt x="5662106" y="46161"/>
                  <a:pt x="5662106" y="103104"/>
                </a:cubicBezTo>
                <a:lnTo>
                  <a:pt x="5662106" y="927932"/>
                </a:lnTo>
                <a:cubicBezTo>
                  <a:pt x="5662106" y="984875"/>
                  <a:pt x="5615945" y="1031036"/>
                  <a:pt x="5559002" y="1031036"/>
                </a:cubicBezTo>
                <a:lnTo>
                  <a:pt x="103104" y="1031036"/>
                </a:lnTo>
                <a:cubicBezTo>
                  <a:pt x="46161" y="1031036"/>
                  <a:pt x="0" y="984875"/>
                  <a:pt x="0" y="927932"/>
                </a:cubicBezTo>
                <a:lnTo>
                  <a:pt x="0" y="103104"/>
                </a:lnTo>
                <a:cubicBezTo>
                  <a:pt x="0" y="46199"/>
                  <a:pt x="46199" y="0"/>
                  <a:pt x="1031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879" dist="8592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45" name="Text 42"/>
          <p:cNvSpPr/>
          <p:nvPr/>
        </p:nvSpPr>
        <p:spPr>
          <a:xfrm>
            <a:off x="6317914" y="5928457"/>
            <a:ext cx="5464491" cy="27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Переход за n шагов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317914" y="6272135"/>
            <a:ext cx="5455899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Вероятности перехода за n шагов вычисляются как </a:t>
            </a:r>
            <a:r>
              <a:rPr lang="en-US" sz="1082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P(n) = Pn</a:t>
            </a:r>
            <a:r>
              <a:rPr lang="en-US" sz="1082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(n-я степень матрицы).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138" y="345138"/>
            <a:ext cx="552221" cy="552221"/>
          </a:xfrm>
          <a:custGeom>
            <a:avLst/>
            <a:gdLst/>
            <a:ahLst/>
            <a:cxnLst/>
            <a:rect l="l" t="t" r="r" b="b"/>
            <a:pathLst>
              <a:path w="552221" h="552221">
                <a:moveTo>
                  <a:pt x="103541" y="0"/>
                </a:moveTo>
                <a:lnTo>
                  <a:pt x="448679" y="0"/>
                </a:lnTo>
                <a:cubicBezTo>
                  <a:pt x="505864" y="0"/>
                  <a:pt x="552221" y="46357"/>
                  <a:pt x="552221" y="103541"/>
                </a:cubicBezTo>
                <a:lnTo>
                  <a:pt x="552221" y="448679"/>
                </a:lnTo>
                <a:cubicBezTo>
                  <a:pt x="552221" y="505864"/>
                  <a:pt x="505864" y="552221"/>
                  <a:pt x="448679" y="552221"/>
                </a:cubicBezTo>
                <a:lnTo>
                  <a:pt x="103541" y="552221"/>
                </a:lnTo>
                <a:cubicBezTo>
                  <a:pt x="46357" y="552221"/>
                  <a:pt x="0" y="505864"/>
                  <a:pt x="0" y="448679"/>
                </a:cubicBezTo>
                <a:lnTo>
                  <a:pt x="0" y="103541"/>
                </a:lnTo>
                <a:cubicBezTo>
                  <a:pt x="0" y="46357"/>
                  <a:pt x="46357" y="0"/>
                  <a:pt x="103541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60409" y="465936"/>
            <a:ext cx="448679" cy="31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5414" y="396909"/>
            <a:ext cx="5108042" cy="34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6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Свойства марковских цепей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5414" y="811074"/>
            <a:ext cx="1104442" cy="34514"/>
          </a:xfrm>
          <a:custGeom>
            <a:avLst/>
            <a:gdLst/>
            <a:ahLst/>
            <a:cxnLst/>
            <a:rect l="l" t="t" r="r" b="b"/>
            <a:pathLst>
              <a:path w="1104442" h="34514">
                <a:moveTo>
                  <a:pt x="0" y="0"/>
                </a:moveTo>
                <a:lnTo>
                  <a:pt x="1104442" y="0"/>
                </a:lnTo>
                <a:lnTo>
                  <a:pt x="1104442" y="34514"/>
                </a:lnTo>
                <a:lnTo>
                  <a:pt x="0" y="34514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362395" y="1069928"/>
            <a:ext cx="5668892" cy="1415066"/>
          </a:xfrm>
          <a:custGeom>
            <a:avLst/>
            <a:gdLst/>
            <a:ahLst/>
            <a:cxnLst/>
            <a:rect l="l" t="t" r="r" b="b"/>
            <a:pathLst>
              <a:path w="5668892" h="1415066">
                <a:moveTo>
                  <a:pt x="34514" y="0"/>
                </a:moveTo>
                <a:lnTo>
                  <a:pt x="5565351" y="0"/>
                </a:lnTo>
                <a:cubicBezTo>
                  <a:pt x="5622535" y="0"/>
                  <a:pt x="5668892" y="46357"/>
                  <a:pt x="5668892" y="103540"/>
                </a:cubicBezTo>
                <a:lnTo>
                  <a:pt x="5668892" y="1311525"/>
                </a:lnTo>
                <a:cubicBezTo>
                  <a:pt x="5668892" y="1368709"/>
                  <a:pt x="5622535" y="1415066"/>
                  <a:pt x="5565351" y="1415066"/>
                </a:cubicBezTo>
                <a:lnTo>
                  <a:pt x="34514" y="1415066"/>
                </a:lnTo>
                <a:cubicBezTo>
                  <a:pt x="15465" y="1415066"/>
                  <a:pt x="0" y="1399601"/>
                  <a:pt x="0" y="1380552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427" dist="862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7" name="Shape 5"/>
          <p:cNvSpPr/>
          <p:nvPr/>
        </p:nvSpPr>
        <p:spPr>
          <a:xfrm>
            <a:off x="362395" y="1069928"/>
            <a:ext cx="34514" cy="1415066"/>
          </a:xfrm>
          <a:custGeom>
            <a:avLst/>
            <a:gdLst/>
            <a:ahLst/>
            <a:cxnLst/>
            <a:rect l="l" t="t" r="r" b="b"/>
            <a:pathLst>
              <a:path w="34514" h="1415066">
                <a:moveTo>
                  <a:pt x="34514" y="0"/>
                </a:moveTo>
                <a:lnTo>
                  <a:pt x="34514" y="0"/>
                </a:lnTo>
                <a:lnTo>
                  <a:pt x="34514" y="1415066"/>
                </a:lnTo>
                <a:lnTo>
                  <a:pt x="34514" y="1415066"/>
                </a:lnTo>
                <a:cubicBezTo>
                  <a:pt x="15465" y="1415066"/>
                  <a:pt x="0" y="1399601"/>
                  <a:pt x="0" y="1380552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517707" y="1207983"/>
            <a:ext cx="5453180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Достижимость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7707" y="1518607"/>
            <a:ext cx="5444552" cy="448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Состояние </a:t>
            </a:r>
            <a:r>
              <a:rPr lang="en-US" sz="108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 достижимо из i</a:t>
            </a:r>
            <a:r>
              <a:rPr lang="en-US" sz="10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если существует путь i → j с ненулевой вероятностью.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7707" y="2036314"/>
            <a:ext cx="5375524" cy="310624"/>
          </a:xfrm>
          <a:custGeom>
            <a:avLst/>
            <a:gdLst/>
            <a:ahLst/>
            <a:cxnLst/>
            <a:rect l="l" t="t" r="r" b="b"/>
            <a:pathLst>
              <a:path w="5375524" h="310624">
                <a:moveTo>
                  <a:pt x="69027" y="0"/>
                </a:moveTo>
                <a:lnTo>
                  <a:pt x="5306498" y="0"/>
                </a:lnTo>
                <a:cubicBezTo>
                  <a:pt x="5344620" y="0"/>
                  <a:pt x="5375524" y="30904"/>
                  <a:pt x="5375524" y="69027"/>
                </a:cubicBezTo>
                <a:lnTo>
                  <a:pt x="5375524" y="241597"/>
                </a:lnTo>
                <a:cubicBezTo>
                  <a:pt x="5375524" y="279720"/>
                  <a:pt x="5344620" y="310624"/>
                  <a:pt x="5306498" y="310624"/>
                </a:cubicBezTo>
                <a:lnTo>
                  <a:pt x="69027" y="310624"/>
                </a:lnTo>
                <a:cubicBezTo>
                  <a:pt x="30930" y="310624"/>
                  <a:pt x="0" y="279694"/>
                  <a:pt x="0" y="241597"/>
                </a:cubicBezTo>
                <a:lnTo>
                  <a:pt x="0" y="69027"/>
                </a:lnTo>
                <a:cubicBezTo>
                  <a:pt x="0" y="30930"/>
                  <a:pt x="30930" y="0"/>
                  <a:pt x="6902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992" y="2139856"/>
            <a:ext cx="120798" cy="120798"/>
          </a:xfrm>
          <a:custGeom>
            <a:avLst/>
            <a:gdLst/>
            <a:ahLst/>
            <a:cxnLst/>
            <a:rect l="l" t="t" r="r" b="b"/>
            <a:pathLst>
              <a:path w="120798" h="120798">
                <a:moveTo>
                  <a:pt x="118581" y="65731"/>
                </a:moveTo>
                <a:cubicBezTo>
                  <a:pt x="121530" y="62782"/>
                  <a:pt x="121530" y="57993"/>
                  <a:pt x="118581" y="55043"/>
                </a:cubicBezTo>
                <a:lnTo>
                  <a:pt x="80831" y="17294"/>
                </a:lnTo>
                <a:cubicBezTo>
                  <a:pt x="77882" y="14345"/>
                  <a:pt x="73092" y="14345"/>
                  <a:pt x="70143" y="17294"/>
                </a:cubicBezTo>
                <a:cubicBezTo>
                  <a:pt x="67194" y="20243"/>
                  <a:pt x="67194" y="25033"/>
                  <a:pt x="70143" y="27982"/>
                </a:cubicBezTo>
                <a:lnTo>
                  <a:pt x="95011" y="52849"/>
                </a:lnTo>
                <a:lnTo>
                  <a:pt x="7550" y="52849"/>
                </a:lnTo>
                <a:cubicBezTo>
                  <a:pt x="3374" y="52849"/>
                  <a:pt x="0" y="56223"/>
                  <a:pt x="0" y="60399"/>
                </a:cubicBezTo>
                <a:cubicBezTo>
                  <a:pt x="0" y="64575"/>
                  <a:pt x="3374" y="67949"/>
                  <a:pt x="7550" y="67949"/>
                </a:cubicBezTo>
                <a:lnTo>
                  <a:pt x="95011" y="67949"/>
                </a:lnTo>
                <a:lnTo>
                  <a:pt x="70143" y="92817"/>
                </a:lnTo>
                <a:cubicBezTo>
                  <a:pt x="67194" y="95766"/>
                  <a:pt x="67194" y="100555"/>
                  <a:pt x="70143" y="103504"/>
                </a:cubicBezTo>
                <a:cubicBezTo>
                  <a:pt x="73092" y="106454"/>
                  <a:pt x="77882" y="106454"/>
                  <a:pt x="80831" y="103504"/>
                </a:cubicBezTo>
                <a:lnTo>
                  <a:pt x="118581" y="65755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3" name="Text 11"/>
          <p:cNvSpPr/>
          <p:nvPr/>
        </p:nvSpPr>
        <p:spPr>
          <a:xfrm>
            <a:off x="788944" y="2105342"/>
            <a:ext cx="5095659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Обозначение: i → j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2395" y="2588535"/>
            <a:ext cx="5668892" cy="1190726"/>
          </a:xfrm>
          <a:custGeom>
            <a:avLst/>
            <a:gdLst/>
            <a:ahLst/>
            <a:cxnLst/>
            <a:rect l="l" t="t" r="r" b="b"/>
            <a:pathLst>
              <a:path w="5668892" h="1190726">
                <a:moveTo>
                  <a:pt x="34514" y="0"/>
                </a:moveTo>
                <a:lnTo>
                  <a:pt x="5565346" y="0"/>
                </a:lnTo>
                <a:cubicBezTo>
                  <a:pt x="5622533" y="0"/>
                  <a:pt x="5668892" y="46359"/>
                  <a:pt x="5668892" y="103546"/>
                </a:cubicBezTo>
                <a:lnTo>
                  <a:pt x="5668892" y="1087181"/>
                </a:lnTo>
                <a:cubicBezTo>
                  <a:pt x="5668892" y="1144367"/>
                  <a:pt x="5622533" y="1190726"/>
                  <a:pt x="5565346" y="1190726"/>
                </a:cubicBezTo>
                <a:lnTo>
                  <a:pt x="34514" y="1190726"/>
                </a:lnTo>
                <a:cubicBezTo>
                  <a:pt x="15465" y="1190726"/>
                  <a:pt x="0" y="1175261"/>
                  <a:pt x="0" y="1156212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427" dist="862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5" name="Shape 13"/>
          <p:cNvSpPr/>
          <p:nvPr/>
        </p:nvSpPr>
        <p:spPr>
          <a:xfrm>
            <a:off x="362395" y="2588535"/>
            <a:ext cx="34514" cy="1190726"/>
          </a:xfrm>
          <a:custGeom>
            <a:avLst/>
            <a:gdLst/>
            <a:ahLst/>
            <a:cxnLst/>
            <a:rect l="l" t="t" r="r" b="b"/>
            <a:pathLst>
              <a:path w="34514" h="1190726">
                <a:moveTo>
                  <a:pt x="34514" y="0"/>
                </a:moveTo>
                <a:lnTo>
                  <a:pt x="34514" y="0"/>
                </a:lnTo>
                <a:lnTo>
                  <a:pt x="34514" y="1190726"/>
                </a:lnTo>
                <a:lnTo>
                  <a:pt x="34514" y="1190726"/>
                </a:lnTo>
                <a:cubicBezTo>
                  <a:pt x="15465" y="1190726"/>
                  <a:pt x="0" y="1175261"/>
                  <a:pt x="0" y="1156212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7" name="Text 15"/>
          <p:cNvSpPr/>
          <p:nvPr/>
        </p:nvSpPr>
        <p:spPr>
          <a:xfrm>
            <a:off x="517707" y="2726590"/>
            <a:ext cx="5453180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Неразложимость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7707" y="3037214"/>
            <a:ext cx="5444552" cy="22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Цепь </a:t>
            </a:r>
            <a:r>
              <a:rPr lang="en-US" sz="108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неразложима</a:t>
            </a:r>
            <a:r>
              <a:rPr lang="en-US" sz="10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если любое состояние достижимо из любого другого.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7707" y="3330582"/>
            <a:ext cx="5375524" cy="310624"/>
          </a:xfrm>
          <a:custGeom>
            <a:avLst/>
            <a:gdLst/>
            <a:ahLst/>
            <a:cxnLst/>
            <a:rect l="l" t="t" r="r" b="b"/>
            <a:pathLst>
              <a:path w="5375524" h="310624">
                <a:moveTo>
                  <a:pt x="69027" y="0"/>
                </a:moveTo>
                <a:lnTo>
                  <a:pt x="5306498" y="0"/>
                </a:lnTo>
                <a:cubicBezTo>
                  <a:pt x="5344620" y="0"/>
                  <a:pt x="5375524" y="30904"/>
                  <a:pt x="5375524" y="69027"/>
                </a:cubicBezTo>
                <a:lnTo>
                  <a:pt x="5375524" y="241597"/>
                </a:lnTo>
                <a:cubicBezTo>
                  <a:pt x="5375524" y="279720"/>
                  <a:pt x="5344620" y="310624"/>
                  <a:pt x="5306498" y="310624"/>
                </a:cubicBezTo>
                <a:lnTo>
                  <a:pt x="69027" y="310624"/>
                </a:lnTo>
                <a:cubicBezTo>
                  <a:pt x="30930" y="310624"/>
                  <a:pt x="0" y="279694"/>
                  <a:pt x="0" y="241597"/>
                </a:cubicBezTo>
                <a:lnTo>
                  <a:pt x="0" y="69027"/>
                </a:lnTo>
                <a:cubicBezTo>
                  <a:pt x="0" y="30930"/>
                  <a:pt x="30930" y="0"/>
                  <a:pt x="6902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586735" y="3399609"/>
            <a:ext cx="5297868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Граф неразложимой цепи — </a:t>
            </a:r>
            <a:r>
              <a:rPr lang="en-US" sz="951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сильно связный</a:t>
            </a:r>
            <a:r>
              <a:rPr lang="en-US" sz="95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2395" y="3882803"/>
            <a:ext cx="5668892" cy="1397809"/>
          </a:xfrm>
          <a:custGeom>
            <a:avLst/>
            <a:gdLst/>
            <a:ahLst/>
            <a:cxnLst/>
            <a:rect l="l" t="t" r="r" b="b"/>
            <a:pathLst>
              <a:path w="5668892" h="1397809">
                <a:moveTo>
                  <a:pt x="34514" y="0"/>
                </a:moveTo>
                <a:lnTo>
                  <a:pt x="5565356" y="0"/>
                </a:lnTo>
                <a:cubicBezTo>
                  <a:pt x="5622537" y="0"/>
                  <a:pt x="5668892" y="46355"/>
                  <a:pt x="5668892" y="103536"/>
                </a:cubicBezTo>
                <a:lnTo>
                  <a:pt x="5668892" y="1294273"/>
                </a:lnTo>
                <a:cubicBezTo>
                  <a:pt x="5668892" y="1351454"/>
                  <a:pt x="5622537" y="1397809"/>
                  <a:pt x="5565356" y="1397809"/>
                </a:cubicBezTo>
                <a:lnTo>
                  <a:pt x="34514" y="1397809"/>
                </a:lnTo>
                <a:cubicBezTo>
                  <a:pt x="15465" y="1397809"/>
                  <a:pt x="0" y="1382344"/>
                  <a:pt x="0" y="1363295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427" dist="862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2" name="Shape 20"/>
          <p:cNvSpPr/>
          <p:nvPr/>
        </p:nvSpPr>
        <p:spPr>
          <a:xfrm>
            <a:off x="362395" y="3882803"/>
            <a:ext cx="34514" cy="1397809"/>
          </a:xfrm>
          <a:custGeom>
            <a:avLst/>
            <a:gdLst/>
            <a:ahLst/>
            <a:cxnLst/>
            <a:rect l="l" t="t" r="r" b="b"/>
            <a:pathLst>
              <a:path w="34514" h="1397809">
                <a:moveTo>
                  <a:pt x="34514" y="0"/>
                </a:moveTo>
                <a:lnTo>
                  <a:pt x="34514" y="0"/>
                </a:lnTo>
                <a:lnTo>
                  <a:pt x="34514" y="1397809"/>
                </a:lnTo>
                <a:lnTo>
                  <a:pt x="34514" y="1397809"/>
                </a:lnTo>
                <a:cubicBezTo>
                  <a:pt x="15465" y="1397809"/>
                  <a:pt x="0" y="1382344"/>
                  <a:pt x="0" y="1363295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517707" y="4020858"/>
            <a:ext cx="5453180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Периодичность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7707" y="4331482"/>
            <a:ext cx="5444552" cy="22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Период</a:t>
            </a:r>
            <a:r>
              <a:rPr lang="en-US" sz="10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состояния i: d(i) = НОД{n : p</a:t>
            </a:r>
            <a:r>
              <a:rPr lang="en-US" sz="815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ii(n)</a:t>
            </a:r>
            <a:r>
              <a:rPr lang="en-US" sz="10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&gt; 0}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7707" y="4624849"/>
            <a:ext cx="5375524" cy="517707"/>
          </a:xfrm>
          <a:custGeom>
            <a:avLst/>
            <a:gdLst/>
            <a:ahLst/>
            <a:cxnLst/>
            <a:rect l="l" t="t" r="r" b="b"/>
            <a:pathLst>
              <a:path w="5375524" h="517707">
                <a:moveTo>
                  <a:pt x="69026" y="0"/>
                </a:moveTo>
                <a:lnTo>
                  <a:pt x="5306499" y="0"/>
                </a:lnTo>
                <a:cubicBezTo>
                  <a:pt x="5344620" y="0"/>
                  <a:pt x="5375524" y="30904"/>
                  <a:pt x="5375524" y="69026"/>
                </a:cubicBezTo>
                <a:lnTo>
                  <a:pt x="5375524" y="448681"/>
                </a:lnTo>
                <a:cubicBezTo>
                  <a:pt x="5375524" y="486778"/>
                  <a:pt x="5344595" y="517707"/>
                  <a:pt x="5306499" y="517707"/>
                </a:cubicBezTo>
                <a:lnTo>
                  <a:pt x="69026" y="517707"/>
                </a:lnTo>
                <a:cubicBezTo>
                  <a:pt x="30904" y="517707"/>
                  <a:pt x="0" y="486803"/>
                  <a:pt x="0" y="448681"/>
                </a:cubicBezTo>
                <a:lnTo>
                  <a:pt x="0" y="69026"/>
                </a:lnTo>
                <a:cubicBezTo>
                  <a:pt x="0" y="30929"/>
                  <a:pt x="30929" y="0"/>
                  <a:pt x="69026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611541" y="4728391"/>
            <a:ext cx="105699" cy="120798"/>
          </a:xfrm>
          <a:custGeom>
            <a:avLst/>
            <a:gdLst/>
            <a:ahLst/>
            <a:cxnLst/>
            <a:rect l="l" t="t" r="r" b="b"/>
            <a:pathLst>
              <a:path w="105699" h="120798">
                <a:moveTo>
                  <a:pt x="102584" y="16539"/>
                </a:moveTo>
                <a:cubicBezTo>
                  <a:pt x="105958" y="18993"/>
                  <a:pt x="106713" y="23711"/>
                  <a:pt x="104259" y="27085"/>
                </a:cubicBezTo>
                <a:lnTo>
                  <a:pt x="43860" y="110134"/>
                </a:lnTo>
                <a:cubicBezTo>
                  <a:pt x="42563" y="111927"/>
                  <a:pt x="40557" y="113036"/>
                  <a:pt x="38339" y="113225"/>
                </a:cubicBezTo>
                <a:cubicBezTo>
                  <a:pt x="36122" y="113414"/>
                  <a:pt x="33975" y="112588"/>
                  <a:pt x="32417" y="111031"/>
                </a:cubicBezTo>
                <a:lnTo>
                  <a:pt x="2218" y="80831"/>
                </a:lnTo>
                <a:cubicBezTo>
                  <a:pt x="-731" y="77882"/>
                  <a:pt x="-731" y="73092"/>
                  <a:pt x="2218" y="70143"/>
                </a:cubicBezTo>
                <a:cubicBezTo>
                  <a:pt x="5167" y="67194"/>
                  <a:pt x="9956" y="67194"/>
                  <a:pt x="12906" y="70143"/>
                </a:cubicBezTo>
                <a:lnTo>
                  <a:pt x="36853" y="94091"/>
                </a:lnTo>
                <a:lnTo>
                  <a:pt x="92062" y="18191"/>
                </a:lnTo>
                <a:cubicBezTo>
                  <a:pt x="94515" y="14817"/>
                  <a:pt x="99234" y="14062"/>
                  <a:pt x="102608" y="1651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8" name="Text 26"/>
          <p:cNvSpPr/>
          <p:nvPr/>
        </p:nvSpPr>
        <p:spPr>
          <a:xfrm>
            <a:off x="788944" y="4693877"/>
            <a:ext cx="5095659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d(i) = 1 — состояние </a:t>
            </a:r>
            <a:r>
              <a:rPr lang="en-US" sz="951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апериодическое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1541" y="4935473"/>
            <a:ext cx="105699" cy="120798"/>
          </a:xfrm>
          <a:custGeom>
            <a:avLst/>
            <a:gdLst/>
            <a:ahLst/>
            <a:cxnLst/>
            <a:rect l="l" t="t" r="r" b="b"/>
            <a:pathLst>
              <a:path w="105699" h="120798">
                <a:moveTo>
                  <a:pt x="102584" y="16539"/>
                </a:moveTo>
                <a:cubicBezTo>
                  <a:pt x="105958" y="18993"/>
                  <a:pt x="106713" y="23711"/>
                  <a:pt x="104259" y="27085"/>
                </a:cubicBezTo>
                <a:lnTo>
                  <a:pt x="43860" y="110134"/>
                </a:lnTo>
                <a:cubicBezTo>
                  <a:pt x="42563" y="111927"/>
                  <a:pt x="40557" y="113036"/>
                  <a:pt x="38339" y="113225"/>
                </a:cubicBezTo>
                <a:cubicBezTo>
                  <a:pt x="36122" y="113414"/>
                  <a:pt x="33975" y="112588"/>
                  <a:pt x="32417" y="111031"/>
                </a:cubicBezTo>
                <a:lnTo>
                  <a:pt x="2218" y="80831"/>
                </a:lnTo>
                <a:cubicBezTo>
                  <a:pt x="-731" y="77882"/>
                  <a:pt x="-731" y="73092"/>
                  <a:pt x="2218" y="70143"/>
                </a:cubicBezTo>
                <a:cubicBezTo>
                  <a:pt x="5167" y="67194"/>
                  <a:pt x="9956" y="67194"/>
                  <a:pt x="12906" y="70143"/>
                </a:cubicBezTo>
                <a:lnTo>
                  <a:pt x="36853" y="94091"/>
                </a:lnTo>
                <a:lnTo>
                  <a:pt x="92062" y="18191"/>
                </a:lnTo>
                <a:cubicBezTo>
                  <a:pt x="94515" y="14817"/>
                  <a:pt x="99234" y="14062"/>
                  <a:pt x="102608" y="1651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0" name="Text 28"/>
          <p:cNvSpPr/>
          <p:nvPr/>
        </p:nvSpPr>
        <p:spPr>
          <a:xfrm>
            <a:off x="788944" y="4900960"/>
            <a:ext cx="5095659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неразложимой цепи все состояния имеют одинаковый период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2261" y="1071885"/>
            <a:ext cx="5668892" cy="1915516"/>
          </a:xfrm>
          <a:custGeom>
            <a:avLst/>
            <a:gdLst/>
            <a:ahLst/>
            <a:cxnLst/>
            <a:rect l="l" t="t" r="r" b="b"/>
            <a:pathLst>
              <a:path w="5668892" h="1915516">
                <a:moveTo>
                  <a:pt x="34514" y="0"/>
                </a:moveTo>
                <a:lnTo>
                  <a:pt x="5565358" y="0"/>
                </a:lnTo>
                <a:cubicBezTo>
                  <a:pt x="5622538" y="0"/>
                  <a:pt x="5668892" y="46354"/>
                  <a:pt x="5668892" y="103534"/>
                </a:cubicBezTo>
                <a:lnTo>
                  <a:pt x="5668892" y="1811982"/>
                </a:lnTo>
                <a:cubicBezTo>
                  <a:pt x="5668892" y="1869162"/>
                  <a:pt x="5622538" y="1915516"/>
                  <a:pt x="5565358" y="1915516"/>
                </a:cubicBezTo>
                <a:lnTo>
                  <a:pt x="34514" y="1915516"/>
                </a:lnTo>
                <a:cubicBezTo>
                  <a:pt x="15465" y="1915516"/>
                  <a:pt x="0" y="1900051"/>
                  <a:pt x="0" y="1881002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427" dist="862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183633" y="1069928"/>
            <a:ext cx="34514" cy="1915516"/>
          </a:xfrm>
          <a:custGeom>
            <a:avLst/>
            <a:gdLst/>
            <a:ahLst/>
            <a:cxnLst/>
            <a:rect l="l" t="t" r="r" b="b"/>
            <a:pathLst>
              <a:path w="34514" h="1915516">
                <a:moveTo>
                  <a:pt x="34514" y="0"/>
                </a:moveTo>
                <a:lnTo>
                  <a:pt x="34514" y="0"/>
                </a:lnTo>
                <a:lnTo>
                  <a:pt x="34514" y="1915516"/>
                </a:lnTo>
                <a:lnTo>
                  <a:pt x="34514" y="1915516"/>
                </a:lnTo>
                <a:cubicBezTo>
                  <a:pt x="15465" y="1915516"/>
                  <a:pt x="0" y="1900051"/>
                  <a:pt x="0" y="1881002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4" name="Text 32"/>
          <p:cNvSpPr/>
          <p:nvPr/>
        </p:nvSpPr>
        <p:spPr>
          <a:xfrm>
            <a:off x="6338945" y="1207983"/>
            <a:ext cx="5453180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Возвратность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38945" y="1518607"/>
            <a:ext cx="5444552" cy="22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Состояние </a:t>
            </a:r>
            <a:r>
              <a:rPr lang="en-US" sz="108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возвратное</a:t>
            </a:r>
            <a:r>
              <a:rPr lang="en-US" sz="10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если вероятность когда-либо вернуться в него равна 1.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8945" y="1811975"/>
            <a:ext cx="5375524" cy="483193"/>
          </a:xfrm>
          <a:custGeom>
            <a:avLst/>
            <a:gdLst/>
            <a:ahLst/>
            <a:cxnLst/>
            <a:rect l="l" t="t" r="r" b="b"/>
            <a:pathLst>
              <a:path w="5375524" h="483193">
                <a:moveTo>
                  <a:pt x="69029" y="0"/>
                </a:moveTo>
                <a:lnTo>
                  <a:pt x="5306495" y="0"/>
                </a:lnTo>
                <a:cubicBezTo>
                  <a:pt x="5344619" y="0"/>
                  <a:pt x="5375524" y="30905"/>
                  <a:pt x="5375524" y="69029"/>
                </a:cubicBezTo>
                <a:lnTo>
                  <a:pt x="5375524" y="414164"/>
                </a:lnTo>
                <a:cubicBezTo>
                  <a:pt x="5375524" y="452288"/>
                  <a:pt x="5344619" y="483193"/>
                  <a:pt x="5306495" y="483193"/>
                </a:cubicBezTo>
                <a:lnTo>
                  <a:pt x="69029" y="483193"/>
                </a:lnTo>
                <a:cubicBezTo>
                  <a:pt x="30905" y="483193"/>
                  <a:pt x="0" y="452288"/>
                  <a:pt x="0" y="414164"/>
                </a:cubicBezTo>
                <a:lnTo>
                  <a:pt x="0" y="69029"/>
                </a:lnTo>
                <a:cubicBezTo>
                  <a:pt x="0" y="30931"/>
                  <a:pt x="30931" y="0"/>
                  <a:pt x="6902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6407972" y="1881002"/>
            <a:ext cx="5297868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Положительно возвратное: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7972" y="2053571"/>
            <a:ext cx="5297868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Среднее время возврата конечно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8945" y="2364195"/>
            <a:ext cx="5375524" cy="483193"/>
          </a:xfrm>
          <a:custGeom>
            <a:avLst/>
            <a:gdLst/>
            <a:ahLst/>
            <a:cxnLst/>
            <a:rect l="l" t="t" r="r" b="b"/>
            <a:pathLst>
              <a:path w="5375524" h="483193">
                <a:moveTo>
                  <a:pt x="69029" y="0"/>
                </a:moveTo>
                <a:lnTo>
                  <a:pt x="5306495" y="0"/>
                </a:lnTo>
                <a:cubicBezTo>
                  <a:pt x="5344619" y="0"/>
                  <a:pt x="5375524" y="30905"/>
                  <a:pt x="5375524" y="69029"/>
                </a:cubicBezTo>
                <a:lnTo>
                  <a:pt x="5375524" y="414164"/>
                </a:lnTo>
                <a:cubicBezTo>
                  <a:pt x="5375524" y="452288"/>
                  <a:pt x="5344619" y="483193"/>
                  <a:pt x="5306495" y="483193"/>
                </a:cubicBezTo>
                <a:lnTo>
                  <a:pt x="69029" y="483193"/>
                </a:lnTo>
                <a:cubicBezTo>
                  <a:pt x="30905" y="483193"/>
                  <a:pt x="0" y="452288"/>
                  <a:pt x="0" y="414164"/>
                </a:cubicBezTo>
                <a:lnTo>
                  <a:pt x="0" y="69029"/>
                </a:lnTo>
                <a:cubicBezTo>
                  <a:pt x="0" y="30931"/>
                  <a:pt x="30931" y="0"/>
                  <a:pt x="6902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7972" y="2433223"/>
            <a:ext cx="5297868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Нулевое возвратное: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7972" y="2605792"/>
            <a:ext cx="5297868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Среднее время возврата бесконечно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6376" y="3088985"/>
            <a:ext cx="5686149" cy="2208883"/>
          </a:xfrm>
          <a:custGeom>
            <a:avLst/>
            <a:gdLst/>
            <a:ahLst/>
            <a:cxnLst/>
            <a:rect l="l" t="t" r="r" b="b"/>
            <a:pathLst>
              <a:path w="5686149" h="2208883">
                <a:moveTo>
                  <a:pt x="103552" y="0"/>
                </a:moveTo>
                <a:lnTo>
                  <a:pt x="5582596" y="0"/>
                </a:lnTo>
                <a:cubicBezTo>
                  <a:pt x="5639787" y="0"/>
                  <a:pt x="5686149" y="46362"/>
                  <a:pt x="5686149" y="103552"/>
                </a:cubicBezTo>
                <a:lnTo>
                  <a:pt x="5686149" y="2105331"/>
                </a:lnTo>
                <a:cubicBezTo>
                  <a:pt x="5686149" y="2162521"/>
                  <a:pt x="5639787" y="2208883"/>
                  <a:pt x="5582596" y="2208883"/>
                </a:cubicBezTo>
                <a:lnTo>
                  <a:pt x="103552" y="2208883"/>
                </a:lnTo>
                <a:cubicBezTo>
                  <a:pt x="46362" y="2208883"/>
                  <a:pt x="0" y="2162521"/>
                  <a:pt x="0" y="2105331"/>
                </a:cubicBezTo>
                <a:lnTo>
                  <a:pt x="0" y="103552"/>
                </a:lnTo>
                <a:cubicBezTo>
                  <a:pt x="0" y="46362"/>
                  <a:pt x="46362" y="0"/>
                  <a:pt x="103552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  <a:effectLst>
            <a:outerShdw blurRad="215711" dist="1725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04431" y="3227040"/>
            <a:ext cx="5487694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Эргодичность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04431" y="3572178"/>
            <a:ext cx="5479066" cy="448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Состояние </a:t>
            </a:r>
            <a:r>
              <a:rPr lang="en-US" sz="108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эргодическое</a:t>
            </a:r>
            <a:r>
              <a:rPr lang="en-US" sz="108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если оно положительно возвратное и апериодическое.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4431" y="4124399"/>
            <a:ext cx="5410038" cy="1035414"/>
          </a:xfrm>
          <a:custGeom>
            <a:avLst/>
            <a:gdLst/>
            <a:ahLst/>
            <a:cxnLst/>
            <a:rect l="l" t="t" r="r" b="b"/>
            <a:pathLst>
              <a:path w="5410038" h="1035414">
                <a:moveTo>
                  <a:pt x="69031" y="0"/>
                </a:moveTo>
                <a:lnTo>
                  <a:pt x="5341007" y="0"/>
                </a:lnTo>
                <a:cubicBezTo>
                  <a:pt x="5379132" y="0"/>
                  <a:pt x="5410038" y="30906"/>
                  <a:pt x="5410038" y="69031"/>
                </a:cubicBezTo>
                <a:lnTo>
                  <a:pt x="5410038" y="966383"/>
                </a:lnTo>
                <a:cubicBezTo>
                  <a:pt x="5410038" y="1004508"/>
                  <a:pt x="5379132" y="1035414"/>
                  <a:pt x="5341007" y="1035414"/>
                </a:cubicBezTo>
                <a:lnTo>
                  <a:pt x="69031" y="1035414"/>
                </a:lnTo>
                <a:cubicBezTo>
                  <a:pt x="30906" y="1035414"/>
                  <a:pt x="0" y="1004508"/>
                  <a:pt x="0" y="966383"/>
                </a:cubicBezTo>
                <a:lnTo>
                  <a:pt x="0" y="69031"/>
                </a:lnTo>
                <a:cubicBezTo>
                  <a:pt x="0" y="30932"/>
                  <a:pt x="30932" y="0"/>
                  <a:pt x="6903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07972" y="4227941"/>
            <a:ext cx="5263355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Эргодическая цепь: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7972" y="4469537"/>
            <a:ext cx="5263355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Неразложимая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07972" y="4676620"/>
            <a:ext cx="5263355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Все состояния эргодические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07972" y="4883703"/>
            <a:ext cx="5263355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Имеет единственное стационарное распределение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6376" y="5401410"/>
            <a:ext cx="5686149" cy="1233868"/>
          </a:xfrm>
          <a:custGeom>
            <a:avLst/>
            <a:gdLst/>
            <a:ahLst/>
            <a:cxnLst/>
            <a:rect l="l" t="t" r="r" b="b"/>
            <a:pathLst>
              <a:path w="5686149" h="1233868">
                <a:moveTo>
                  <a:pt x="103546" y="0"/>
                </a:moveTo>
                <a:lnTo>
                  <a:pt x="5582602" y="0"/>
                </a:lnTo>
                <a:cubicBezTo>
                  <a:pt x="5639789" y="0"/>
                  <a:pt x="5686149" y="46359"/>
                  <a:pt x="5686149" y="103546"/>
                </a:cubicBezTo>
                <a:lnTo>
                  <a:pt x="5686149" y="1130322"/>
                </a:lnTo>
                <a:cubicBezTo>
                  <a:pt x="5686149" y="1187471"/>
                  <a:pt x="5639751" y="1233868"/>
                  <a:pt x="5582602" y="1233868"/>
                </a:cubicBezTo>
                <a:lnTo>
                  <a:pt x="103546" y="1233868"/>
                </a:lnTo>
                <a:cubicBezTo>
                  <a:pt x="46359" y="1233868"/>
                  <a:pt x="0" y="1187509"/>
                  <a:pt x="0" y="1130322"/>
                </a:cubicBezTo>
                <a:lnTo>
                  <a:pt x="0" y="103546"/>
                </a:lnTo>
                <a:cubicBezTo>
                  <a:pt x="0" y="46398"/>
                  <a:pt x="46398" y="0"/>
                  <a:pt x="1035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427" dist="862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53" name="Text 50"/>
          <p:cNvSpPr/>
          <p:nvPr/>
        </p:nvSpPr>
        <p:spPr>
          <a:xfrm>
            <a:off x="6244032" y="6402310"/>
            <a:ext cx="5530837" cy="129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Визуализация переходов между состояниями</a:t>
            </a:r>
            <a:endParaRPr lang="en-US" sz="1600" dirty="0"/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0E87F85E-7E25-9D20-0C3B-F0106FDBC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898" y="5497994"/>
            <a:ext cx="929103" cy="8007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062" y="358062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07419" y="0"/>
                </a:moveTo>
                <a:lnTo>
                  <a:pt x="465480" y="0"/>
                </a:lnTo>
                <a:cubicBezTo>
                  <a:pt x="524806" y="0"/>
                  <a:pt x="572899" y="48093"/>
                  <a:pt x="572899" y="107419"/>
                </a:cubicBezTo>
                <a:lnTo>
                  <a:pt x="572899" y="465480"/>
                </a:lnTo>
                <a:cubicBezTo>
                  <a:pt x="572899" y="524806"/>
                  <a:pt x="524806" y="572899"/>
                  <a:pt x="465480" y="572899"/>
                </a:cubicBezTo>
                <a:lnTo>
                  <a:pt x="107419" y="572899"/>
                </a:lnTo>
                <a:cubicBezTo>
                  <a:pt x="48093" y="572899"/>
                  <a:pt x="0" y="524806"/>
                  <a:pt x="0" y="465480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75830" y="483383"/>
            <a:ext cx="474432" cy="32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4185" y="411771"/>
            <a:ext cx="530826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Стационарные вероятности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4185" y="841445"/>
            <a:ext cx="1145797" cy="35806"/>
          </a:xfrm>
          <a:custGeom>
            <a:avLst/>
            <a:gdLst/>
            <a:ahLst/>
            <a:cxnLst/>
            <a:rect l="l" t="t" r="r" b="b"/>
            <a:pathLst>
              <a:path w="1145797" h="35806">
                <a:moveTo>
                  <a:pt x="0" y="0"/>
                </a:moveTo>
                <a:lnTo>
                  <a:pt x="1145797" y="0"/>
                </a:lnTo>
                <a:lnTo>
                  <a:pt x="1145797" y="35806"/>
                </a:lnTo>
                <a:lnTo>
                  <a:pt x="0" y="35806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358062" y="1109991"/>
            <a:ext cx="6812123" cy="2184176"/>
          </a:xfrm>
          <a:custGeom>
            <a:avLst/>
            <a:gdLst/>
            <a:ahLst/>
            <a:cxnLst/>
            <a:rect l="l" t="t" r="r" b="b"/>
            <a:pathLst>
              <a:path w="6812123" h="2184176">
                <a:moveTo>
                  <a:pt x="107418" y="0"/>
                </a:moveTo>
                <a:lnTo>
                  <a:pt x="6704706" y="0"/>
                </a:lnTo>
                <a:cubicBezTo>
                  <a:pt x="6764031" y="0"/>
                  <a:pt x="6812123" y="48093"/>
                  <a:pt x="6812123" y="107418"/>
                </a:cubicBezTo>
                <a:lnTo>
                  <a:pt x="6812123" y="2076758"/>
                </a:lnTo>
                <a:cubicBezTo>
                  <a:pt x="6812123" y="2136084"/>
                  <a:pt x="6764031" y="2184176"/>
                  <a:pt x="6704706" y="2184176"/>
                </a:cubicBezTo>
                <a:lnTo>
                  <a:pt x="107418" y="2184176"/>
                </a:lnTo>
                <a:cubicBezTo>
                  <a:pt x="48093" y="2184176"/>
                  <a:pt x="0" y="2136084"/>
                  <a:pt x="0" y="2076758"/>
                </a:cubicBezTo>
                <a:lnTo>
                  <a:pt x="0" y="107418"/>
                </a:lnTo>
                <a:cubicBezTo>
                  <a:pt x="0" y="48132"/>
                  <a:pt x="48132" y="0"/>
                  <a:pt x="1074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  <a:effectLst>
            <a:outerShdw blurRad="223789" dist="17903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554997" y="1289022"/>
            <a:ext cx="652567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Определение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093" y="1647084"/>
            <a:ext cx="6525674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Стационарное распределение</a:t>
            </a:r>
            <a:r>
              <a:rPr lang="en-US" sz="112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π = (π₁, π₂, ..., π</a:t>
            </a:r>
            <a:r>
              <a:rPr lang="en-US" sz="846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12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— это распределение вероятностей, которое </a:t>
            </a:r>
            <a:r>
              <a:rPr lang="en-US" sz="112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меняется</a:t>
            </a:r>
            <a:r>
              <a:rPr lang="en-US" sz="112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со временем при эволюции цепи.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7093" y="2219982"/>
            <a:ext cx="6454062" cy="895154"/>
          </a:xfrm>
          <a:custGeom>
            <a:avLst/>
            <a:gdLst/>
            <a:ahLst/>
            <a:cxnLst/>
            <a:rect l="l" t="t" r="r" b="b"/>
            <a:pathLst>
              <a:path w="6454062" h="895154">
                <a:moveTo>
                  <a:pt x="71612" y="0"/>
                </a:moveTo>
                <a:lnTo>
                  <a:pt x="6382449" y="0"/>
                </a:lnTo>
                <a:cubicBezTo>
                  <a:pt x="6422000" y="0"/>
                  <a:pt x="6454062" y="32062"/>
                  <a:pt x="6454062" y="71612"/>
                </a:cubicBezTo>
                <a:lnTo>
                  <a:pt x="6454062" y="823542"/>
                </a:lnTo>
                <a:cubicBezTo>
                  <a:pt x="6454062" y="863092"/>
                  <a:pt x="6422000" y="895154"/>
                  <a:pt x="6382449" y="895154"/>
                </a:cubicBezTo>
                <a:lnTo>
                  <a:pt x="71612" y="895154"/>
                </a:lnTo>
                <a:cubicBezTo>
                  <a:pt x="32062" y="895154"/>
                  <a:pt x="0" y="863092"/>
                  <a:pt x="0" y="823542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4511" y="2327401"/>
            <a:ext cx="6310837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Уравнение стационарности: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4511" y="2613850"/>
            <a:ext cx="6239225" cy="393868"/>
          </a:xfrm>
          <a:custGeom>
            <a:avLst/>
            <a:gdLst/>
            <a:ahLst/>
            <a:cxnLst/>
            <a:rect l="l" t="t" r="r" b="b"/>
            <a:pathLst>
              <a:path w="6239225" h="393868">
                <a:moveTo>
                  <a:pt x="71613" y="0"/>
                </a:moveTo>
                <a:lnTo>
                  <a:pt x="6167612" y="0"/>
                </a:lnTo>
                <a:cubicBezTo>
                  <a:pt x="6207136" y="0"/>
                  <a:pt x="6239225" y="32089"/>
                  <a:pt x="6239225" y="71613"/>
                </a:cubicBezTo>
                <a:lnTo>
                  <a:pt x="6239225" y="322255"/>
                </a:lnTo>
                <a:cubicBezTo>
                  <a:pt x="6239225" y="361779"/>
                  <a:pt x="6207136" y="393868"/>
                  <a:pt x="6167612" y="393868"/>
                </a:cubicBezTo>
                <a:lnTo>
                  <a:pt x="71613" y="393868"/>
                </a:lnTo>
                <a:cubicBezTo>
                  <a:pt x="32089" y="393868"/>
                  <a:pt x="0" y="361779"/>
                  <a:pt x="0" y="322255"/>
                </a:cubicBezTo>
                <a:lnTo>
                  <a:pt x="0" y="71613"/>
                </a:lnTo>
                <a:cubicBezTo>
                  <a:pt x="0" y="32089"/>
                  <a:pt x="32089" y="0"/>
                  <a:pt x="716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1366" y="2685463"/>
            <a:ext cx="618551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 = πP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5965" y="3437392"/>
            <a:ext cx="6794220" cy="1772405"/>
          </a:xfrm>
          <a:custGeom>
            <a:avLst/>
            <a:gdLst/>
            <a:ahLst/>
            <a:cxnLst/>
            <a:rect l="l" t="t" r="r" b="b"/>
            <a:pathLst>
              <a:path w="6794220" h="1772405">
                <a:moveTo>
                  <a:pt x="35806" y="0"/>
                </a:moveTo>
                <a:lnTo>
                  <a:pt x="6686795" y="0"/>
                </a:lnTo>
                <a:cubicBezTo>
                  <a:pt x="6746124" y="0"/>
                  <a:pt x="6794220" y="48096"/>
                  <a:pt x="6794220" y="107425"/>
                </a:cubicBezTo>
                <a:lnTo>
                  <a:pt x="6794220" y="1664980"/>
                </a:lnTo>
                <a:cubicBezTo>
                  <a:pt x="6794220" y="1724309"/>
                  <a:pt x="6746124" y="1772405"/>
                  <a:pt x="6686795" y="1772405"/>
                </a:cubicBezTo>
                <a:lnTo>
                  <a:pt x="35806" y="1772405"/>
                </a:lnTo>
                <a:cubicBezTo>
                  <a:pt x="16031" y="1772405"/>
                  <a:pt x="0" y="1756374"/>
                  <a:pt x="0" y="1736599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965" y="3437392"/>
            <a:ext cx="35806" cy="1772405"/>
          </a:xfrm>
          <a:custGeom>
            <a:avLst/>
            <a:gdLst/>
            <a:ahLst/>
            <a:cxnLst/>
            <a:rect l="l" t="t" r="r" b="b"/>
            <a:pathLst>
              <a:path w="35806" h="1772405">
                <a:moveTo>
                  <a:pt x="35806" y="0"/>
                </a:moveTo>
                <a:lnTo>
                  <a:pt x="35806" y="0"/>
                </a:lnTo>
                <a:lnTo>
                  <a:pt x="35806" y="1772405"/>
                </a:lnTo>
                <a:lnTo>
                  <a:pt x="35806" y="1772405"/>
                </a:lnTo>
                <a:cubicBezTo>
                  <a:pt x="16031" y="1772405"/>
                  <a:pt x="0" y="1756374"/>
                  <a:pt x="0" y="1736599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7" name="Text 15"/>
          <p:cNvSpPr/>
          <p:nvPr/>
        </p:nvSpPr>
        <p:spPr>
          <a:xfrm>
            <a:off x="572899" y="3616423"/>
            <a:ext cx="649881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уравнений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2899" y="3974485"/>
            <a:ext cx="6489868" cy="2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Для нахождения стационарного распределения решаем систему: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2899" y="4314643"/>
            <a:ext cx="6418256" cy="322256"/>
          </a:xfrm>
          <a:custGeom>
            <a:avLst/>
            <a:gdLst/>
            <a:ahLst/>
            <a:cxnLst/>
            <a:rect l="l" t="t" r="r" b="b"/>
            <a:pathLst>
              <a:path w="6418256" h="322256">
                <a:moveTo>
                  <a:pt x="71612" y="0"/>
                </a:moveTo>
                <a:lnTo>
                  <a:pt x="6346644" y="0"/>
                </a:lnTo>
                <a:cubicBezTo>
                  <a:pt x="6386194" y="0"/>
                  <a:pt x="6418256" y="32062"/>
                  <a:pt x="6418256" y="71612"/>
                </a:cubicBezTo>
                <a:lnTo>
                  <a:pt x="6418256" y="250644"/>
                </a:lnTo>
                <a:cubicBezTo>
                  <a:pt x="6418256" y="290194"/>
                  <a:pt x="6386194" y="322256"/>
                  <a:pt x="6346644" y="322256"/>
                </a:cubicBezTo>
                <a:lnTo>
                  <a:pt x="71612" y="322256"/>
                </a:lnTo>
                <a:cubicBezTo>
                  <a:pt x="32088" y="322256"/>
                  <a:pt x="0" y="290167"/>
                  <a:pt x="0" y="250644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4511" y="4386256"/>
            <a:ext cx="633769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πⱼ = Σᵢ πᵢ · pᵢⱼ, для всех j = 1, ..., 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2899" y="4708511"/>
            <a:ext cx="6418256" cy="322256"/>
          </a:xfrm>
          <a:custGeom>
            <a:avLst/>
            <a:gdLst/>
            <a:ahLst/>
            <a:cxnLst/>
            <a:rect l="l" t="t" r="r" b="b"/>
            <a:pathLst>
              <a:path w="6418256" h="322256">
                <a:moveTo>
                  <a:pt x="71612" y="0"/>
                </a:moveTo>
                <a:lnTo>
                  <a:pt x="6346644" y="0"/>
                </a:lnTo>
                <a:cubicBezTo>
                  <a:pt x="6386194" y="0"/>
                  <a:pt x="6418256" y="32062"/>
                  <a:pt x="6418256" y="71612"/>
                </a:cubicBezTo>
                <a:lnTo>
                  <a:pt x="6418256" y="250644"/>
                </a:lnTo>
                <a:cubicBezTo>
                  <a:pt x="6418256" y="290194"/>
                  <a:pt x="6386194" y="322256"/>
                  <a:pt x="6346644" y="322256"/>
                </a:cubicBezTo>
                <a:lnTo>
                  <a:pt x="71612" y="322256"/>
                </a:lnTo>
                <a:cubicBezTo>
                  <a:pt x="32088" y="322256"/>
                  <a:pt x="0" y="290167"/>
                  <a:pt x="0" y="250644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4511" y="4780123"/>
            <a:ext cx="633769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Σⱼ πⱼ = 1 (условие нормировки)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8062" y="5353022"/>
            <a:ext cx="6812123" cy="1074185"/>
          </a:xfrm>
          <a:custGeom>
            <a:avLst/>
            <a:gdLst/>
            <a:ahLst/>
            <a:cxnLst/>
            <a:rect l="l" t="t" r="r" b="b"/>
            <a:pathLst>
              <a:path w="6812123" h="1074185">
                <a:moveTo>
                  <a:pt x="107419" y="0"/>
                </a:moveTo>
                <a:lnTo>
                  <a:pt x="6704705" y="0"/>
                </a:lnTo>
                <a:cubicBezTo>
                  <a:pt x="6764030" y="0"/>
                  <a:pt x="6812123" y="48093"/>
                  <a:pt x="6812123" y="107419"/>
                </a:cubicBezTo>
                <a:lnTo>
                  <a:pt x="6812123" y="966767"/>
                </a:lnTo>
                <a:cubicBezTo>
                  <a:pt x="6812123" y="1026092"/>
                  <a:pt x="6764030" y="1074185"/>
                  <a:pt x="6704705" y="1074185"/>
                </a:cubicBezTo>
                <a:lnTo>
                  <a:pt x="107419" y="1074185"/>
                </a:lnTo>
                <a:cubicBezTo>
                  <a:pt x="48093" y="1074185"/>
                  <a:pt x="0" y="1026092"/>
                  <a:pt x="0" y="966767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6673" y="5496247"/>
            <a:ext cx="657085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Смысл стационарности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1286" y="5818502"/>
            <a:ext cx="6597286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Стационарное распределение описывает </a:t>
            </a:r>
            <a:r>
              <a:rPr lang="en-US" sz="1128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равновесное состояние</a:t>
            </a:r>
            <a:r>
              <a:rPr lang="en-US" sz="112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системы. В долгосрочной перспективе цепь проводит долю времени π</a:t>
            </a:r>
            <a:r>
              <a:rPr lang="en-US" sz="846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 состоянии j.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49635" y="1109991"/>
            <a:ext cx="4484722" cy="4636899"/>
          </a:xfrm>
          <a:custGeom>
            <a:avLst/>
            <a:gdLst/>
            <a:ahLst/>
            <a:cxnLst/>
            <a:rect l="l" t="t" r="r" b="b"/>
            <a:pathLst>
              <a:path w="4484722" h="4636899">
                <a:moveTo>
                  <a:pt x="107409" y="0"/>
                </a:moveTo>
                <a:lnTo>
                  <a:pt x="4377313" y="0"/>
                </a:lnTo>
                <a:cubicBezTo>
                  <a:pt x="4436634" y="0"/>
                  <a:pt x="4484722" y="48089"/>
                  <a:pt x="4484722" y="107409"/>
                </a:cubicBezTo>
                <a:lnTo>
                  <a:pt x="4484722" y="4529490"/>
                </a:lnTo>
                <a:cubicBezTo>
                  <a:pt x="4484722" y="4588810"/>
                  <a:pt x="4436634" y="4636899"/>
                  <a:pt x="4377313" y="4636899"/>
                </a:cubicBezTo>
                <a:lnTo>
                  <a:pt x="107409" y="4636899"/>
                </a:lnTo>
                <a:cubicBezTo>
                  <a:pt x="48089" y="4636899"/>
                  <a:pt x="0" y="4588810"/>
                  <a:pt x="0" y="4529490"/>
                </a:cubicBezTo>
                <a:lnTo>
                  <a:pt x="0" y="107409"/>
                </a:lnTo>
                <a:cubicBezTo>
                  <a:pt x="0" y="48128"/>
                  <a:pt x="48128" y="0"/>
                  <a:pt x="1074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23789" dist="17903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28666" y="1289022"/>
            <a:ext cx="420722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Пример расчёта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28666" y="1647084"/>
            <a:ext cx="418932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Для матрицы переходов: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28666" y="1826115"/>
            <a:ext cx="4126661" cy="1020475"/>
          </a:xfrm>
          <a:custGeom>
            <a:avLst/>
            <a:gdLst/>
            <a:ahLst/>
            <a:cxnLst/>
            <a:rect l="l" t="t" r="r" b="b"/>
            <a:pathLst>
              <a:path w="4126661" h="913057">
                <a:moveTo>
                  <a:pt x="71611" y="0"/>
                </a:moveTo>
                <a:lnTo>
                  <a:pt x="4055050" y="0"/>
                </a:lnTo>
                <a:cubicBezTo>
                  <a:pt x="4094599" y="0"/>
                  <a:pt x="4126661" y="32061"/>
                  <a:pt x="4126661" y="71611"/>
                </a:cubicBezTo>
                <a:lnTo>
                  <a:pt x="4126661" y="841446"/>
                </a:lnTo>
                <a:cubicBezTo>
                  <a:pt x="4126661" y="880996"/>
                  <a:pt x="4094599" y="913057"/>
                  <a:pt x="4055050" y="913057"/>
                </a:cubicBezTo>
                <a:lnTo>
                  <a:pt x="71611" y="913057"/>
                </a:lnTo>
                <a:cubicBezTo>
                  <a:pt x="32061" y="913057"/>
                  <a:pt x="0" y="880996"/>
                  <a:pt x="0" y="841446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518853"/>
              </p:ext>
            </p:extLst>
          </p:nvPr>
        </p:nvGraphicFramePr>
        <p:xfrm>
          <a:off x="9143403" y="1897727"/>
          <a:ext cx="1020476" cy="876300"/>
        </p:xfrm>
        <a:graphic>
          <a:graphicData uri="http://schemas.openxmlformats.org/drawingml/2006/table">
            <a:tbl>
              <a:tblPr/>
              <a:tblGrid>
                <a:gridCol w="51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225" marR="143225" marT="71612" marB="71612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225" marR="143225" marT="71612" marB="71612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225" marR="143225" marT="71612" marB="71612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225" marR="143225" marT="71612" marB="71612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7528666" y="2954009"/>
            <a:ext cx="4126661" cy="501286"/>
          </a:xfrm>
          <a:custGeom>
            <a:avLst/>
            <a:gdLst/>
            <a:ahLst/>
            <a:cxnLst/>
            <a:rect l="l" t="t" r="r" b="b"/>
            <a:pathLst>
              <a:path w="4126661" h="501286">
                <a:moveTo>
                  <a:pt x="71614" y="0"/>
                </a:moveTo>
                <a:lnTo>
                  <a:pt x="4055047" y="0"/>
                </a:lnTo>
                <a:cubicBezTo>
                  <a:pt x="4094598" y="0"/>
                  <a:pt x="4126661" y="32063"/>
                  <a:pt x="4126661" y="71614"/>
                </a:cubicBezTo>
                <a:lnTo>
                  <a:pt x="4126661" y="429673"/>
                </a:lnTo>
                <a:cubicBezTo>
                  <a:pt x="4126661" y="469224"/>
                  <a:pt x="4094598" y="501286"/>
                  <a:pt x="4055047" y="501286"/>
                </a:cubicBezTo>
                <a:lnTo>
                  <a:pt x="71614" y="501286"/>
                </a:lnTo>
                <a:cubicBezTo>
                  <a:pt x="32089" y="501286"/>
                  <a:pt x="0" y="469197"/>
                  <a:pt x="0" y="429673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4" name="Text 31"/>
          <p:cNvSpPr/>
          <p:nvPr/>
        </p:nvSpPr>
        <p:spPr>
          <a:xfrm>
            <a:off x="7600279" y="3025621"/>
            <a:ext cx="40460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Шаг 1: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600279" y="3204652"/>
            <a:ext cx="40460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π₁ = 0.6π₁ + 0.3π₂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28666" y="3526907"/>
            <a:ext cx="4126661" cy="501286"/>
          </a:xfrm>
          <a:custGeom>
            <a:avLst/>
            <a:gdLst/>
            <a:ahLst/>
            <a:cxnLst/>
            <a:rect l="l" t="t" r="r" b="b"/>
            <a:pathLst>
              <a:path w="4126661" h="501286">
                <a:moveTo>
                  <a:pt x="71614" y="0"/>
                </a:moveTo>
                <a:lnTo>
                  <a:pt x="4055047" y="0"/>
                </a:lnTo>
                <a:cubicBezTo>
                  <a:pt x="4094598" y="0"/>
                  <a:pt x="4126661" y="32063"/>
                  <a:pt x="4126661" y="71614"/>
                </a:cubicBezTo>
                <a:lnTo>
                  <a:pt x="4126661" y="429673"/>
                </a:lnTo>
                <a:cubicBezTo>
                  <a:pt x="4126661" y="469224"/>
                  <a:pt x="4094598" y="501286"/>
                  <a:pt x="4055047" y="501286"/>
                </a:cubicBezTo>
                <a:lnTo>
                  <a:pt x="71614" y="501286"/>
                </a:lnTo>
                <a:cubicBezTo>
                  <a:pt x="32089" y="501286"/>
                  <a:pt x="0" y="469197"/>
                  <a:pt x="0" y="429673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7" name="Text 34"/>
          <p:cNvSpPr/>
          <p:nvPr/>
        </p:nvSpPr>
        <p:spPr>
          <a:xfrm>
            <a:off x="7600279" y="3598520"/>
            <a:ext cx="40460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Шаг 2: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600279" y="3777551"/>
            <a:ext cx="40460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π₂ = 0.4π₁ + 0.7π₂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528666" y="4099806"/>
            <a:ext cx="4126661" cy="501286"/>
          </a:xfrm>
          <a:custGeom>
            <a:avLst/>
            <a:gdLst/>
            <a:ahLst/>
            <a:cxnLst/>
            <a:rect l="l" t="t" r="r" b="b"/>
            <a:pathLst>
              <a:path w="4126661" h="501286">
                <a:moveTo>
                  <a:pt x="71614" y="0"/>
                </a:moveTo>
                <a:lnTo>
                  <a:pt x="4055047" y="0"/>
                </a:lnTo>
                <a:cubicBezTo>
                  <a:pt x="4094598" y="0"/>
                  <a:pt x="4126661" y="32063"/>
                  <a:pt x="4126661" y="71614"/>
                </a:cubicBezTo>
                <a:lnTo>
                  <a:pt x="4126661" y="429673"/>
                </a:lnTo>
                <a:cubicBezTo>
                  <a:pt x="4126661" y="469224"/>
                  <a:pt x="4094598" y="501286"/>
                  <a:pt x="4055047" y="501286"/>
                </a:cubicBezTo>
                <a:lnTo>
                  <a:pt x="71614" y="501286"/>
                </a:lnTo>
                <a:cubicBezTo>
                  <a:pt x="32089" y="501286"/>
                  <a:pt x="0" y="469197"/>
                  <a:pt x="0" y="429673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0" name="Text 37"/>
          <p:cNvSpPr/>
          <p:nvPr/>
        </p:nvSpPr>
        <p:spPr>
          <a:xfrm>
            <a:off x="7600279" y="4171419"/>
            <a:ext cx="40460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Шаг 3: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600279" y="4350449"/>
            <a:ext cx="40460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π₁ + π₂ = 1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528666" y="4708511"/>
            <a:ext cx="4126661" cy="859348"/>
          </a:xfrm>
          <a:custGeom>
            <a:avLst/>
            <a:gdLst/>
            <a:ahLst/>
            <a:cxnLst/>
            <a:rect l="l" t="t" r="r" b="b"/>
            <a:pathLst>
              <a:path w="4126661" h="859348">
                <a:moveTo>
                  <a:pt x="71609" y="0"/>
                </a:moveTo>
                <a:lnTo>
                  <a:pt x="4055051" y="0"/>
                </a:lnTo>
                <a:cubicBezTo>
                  <a:pt x="4094600" y="0"/>
                  <a:pt x="4126661" y="32061"/>
                  <a:pt x="4126661" y="71609"/>
                </a:cubicBezTo>
                <a:lnTo>
                  <a:pt x="4126661" y="787739"/>
                </a:lnTo>
                <a:cubicBezTo>
                  <a:pt x="4126661" y="827287"/>
                  <a:pt x="4094600" y="859348"/>
                  <a:pt x="4055051" y="859348"/>
                </a:cubicBezTo>
                <a:lnTo>
                  <a:pt x="71609" y="859348"/>
                </a:lnTo>
                <a:cubicBezTo>
                  <a:pt x="32087" y="859348"/>
                  <a:pt x="0" y="827261"/>
                  <a:pt x="0" y="787739"/>
                </a:cubicBezTo>
                <a:lnTo>
                  <a:pt x="0" y="71609"/>
                </a:lnTo>
                <a:cubicBezTo>
                  <a:pt x="0" y="32087"/>
                  <a:pt x="32087" y="0"/>
                  <a:pt x="71609" y="0"/>
                </a:cubicBezTo>
                <a:close/>
              </a:path>
            </a:pathLst>
          </a:custGeom>
          <a:gradFill flip="none" rotWithShape="1">
            <a:gsLst>
              <a:gs pos="0">
                <a:srgbClr val="4299E1">
                  <a:alpha val="20000"/>
                </a:srgbClr>
              </a:gs>
              <a:gs pos="100000">
                <a:srgbClr val="2B6CB0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3" name="Text 40"/>
          <p:cNvSpPr/>
          <p:nvPr/>
        </p:nvSpPr>
        <p:spPr>
          <a:xfrm>
            <a:off x="7636085" y="4815930"/>
            <a:ext cx="397448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Решение: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636085" y="5030767"/>
            <a:ext cx="398343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π₁ = 3/7 ≈ 0.429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636085" y="5245604"/>
            <a:ext cx="398343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π₂ = 4/7 ≈ 0.571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349635" y="5890115"/>
            <a:ext cx="4484722" cy="966767"/>
          </a:xfrm>
          <a:custGeom>
            <a:avLst/>
            <a:gdLst/>
            <a:ahLst/>
            <a:cxnLst/>
            <a:rect l="l" t="t" r="r" b="b"/>
            <a:pathLst>
              <a:path w="4484722" h="966767">
                <a:moveTo>
                  <a:pt x="107417" y="0"/>
                </a:moveTo>
                <a:lnTo>
                  <a:pt x="4377305" y="0"/>
                </a:lnTo>
                <a:cubicBezTo>
                  <a:pt x="4436630" y="0"/>
                  <a:pt x="4484722" y="48092"/>
                  <a:pt x="4484722" y="107417"/>
                </a:cubicBezTo>
                <a:lnTo>
                  <a:pt x="4484722" y="859349"/>
                </a:lnTo>
                <a:cubicBezTo>
                  <a:pt x="4484722" y="918674"/>
                  <a:pt x="4436630" y="966767"/>
                  <a:pt x="4377305" y="966767"/>
                </a:cubicBezTo>
                <a:lnTo>
                  <a:pt x="107417" y="966767"/>
                </a:lnTo>
                <a:cubicBezTo>
                  <a:pt x="48092" y="966767"/>
                  <a:pt x="0" y="918674"/>
                  <a:pt x="0" y="859349"/>
                </a:cubicBezTo>
                <a:lnTo>
                  <a:pt x="0" y="107417"/>
                </a:lnTo>
                <a:cubicBezTo>
                  <a:pt x="0" y="48132"/>
                  <a:pt x="48132" y="0"/>
                  <a:pt x="1074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7492861" y="6033339"/>
            <a:ext cx="426988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Существование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492860" y="6319789"/>
            <a:ext cx="4260934" cy="39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Стационарное распределение существует и </a:t>
            </a:r>
            <a:r>
              <a:rPr lang="en-US" sz="987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единственно</a:t>
            </a:r>
            <a:r>
              <a:rPr lang="en-US" sz="987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если цепь эргодическая.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19708" y="5143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38150"/>
            <a:ext cx="6800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Уравнения Колмогорова-Чепмена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89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181100"/>
            <a:ext cx="5619750" cy="2819400"/>
          </a:xfrm>
          <a:custGeom>
            <a:avLst/>
            <a:gdLst/>
            <a:ahLst/>
            <a:cxnLst/>
            <a:rect l="l" t="t" r="r" b="b"/>
            <a:pathLst>
              <a:path w="5619750" h="2819400">
                <a:moveTo>
                  <a:pt x="114298" y="0"/>
                </a:moveTo>
                <a:lnTo>
                  <a:pt x="5505452" y="0"/>
                </a:lnTo>
                <a:cubicBezTo>
                  <a:pt x="5568577" y="0"/>
                  <a:pt x="5619750" y="51173"/>
                  <a:pt x="5619750" y="114298"/>
                </a:cubicBezTo>
                <a:lnTo>
                  <a:pt x="5619750" y="2705102"/>
                </a:lnTo>
                <a:cubicBezTo>
                  <a:pt x="5619750" y="2768227"/>
                  <a:pt x="5568577" y="2819400"/>
                  <a:pt x="5505452" y="2819400"/>
                </a:cubicBezTo>
                <a:lnTo>
                  <a:pt x="114298" y="2819400"/>
                </a:lnTo>
                <a:cubicBezTo>
                  <a:pt x="51173" y="2819400"/>
                  <a:pt x="0" y="2768227"/>
                  <a:pt x="0" y="27051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1" y="137160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Основное уравнение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7526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Уравнение Колмогорова-Чепмена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связывает вероятности перехода за разные интервалы времени через промежуточные состояния.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400300"/>
            <a:ext cx="5238750" cy="1409700"/>
          </a:xfrm>
          <a:custGeom>
            <a:avLst/>
            <a:gdLst/>
            <a:ahLst/>
            <a:cxnLst/>
            <a:rect l="l" t="t" r="r" b="b"/>
            <a:pathLst>
              <a:path w="5238750" h="1409700">
                <a:moveTo>
                  <a:pt x="76194" y="0"/>
                </a:moveTo>
                <a:lnTo>
                  <a:pt x="5162556" y="0"/>
                </a:lnTo>
                <a:cubicBezTo>
                  <a:pt x="5204608" y="0"/>
                  <a:pt x="5238750" y="34142"/>
                  <a:pt x="5238750" y="76194"/>
                </a:cubicBezTo>
                <a:lnTo>
                  <a:pt x="5238750" y="1333506"/>
                </a:lnTo>
                <a:cubicBezTo>
                  <a:pt x="5238750" y="1375587"/>
                  <a:pt x="5204637" y="1409700"/>
                  <a:pt x="516255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2552700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Для дискретного времени: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3900" y="2857500"/>
            <a:ext cx="4933950" cy="495300"/>
          </a:xfrm>
          <a:custGeom>
            <a:avLst/>
            <a:gdLst/>
            <a:ahLst/>
            <a:cxnLst/>
            <a:rect l="l" t="t" r="r" b="b"/>
            <a:pathLst>
              <a:path w="4933950" h="495300">
                <a:moveTo>
                  <a:pt x="76202" y="0"/>
                </a:moveTo>
                <a:lnTo>
                  <a:pt x="4857748" y="0"/>
                </a:lnTo>
                <a:cubicBezTo>
                  <a:pt x="4899833" y="0"/>
                  <a:pt x="4933950" y="34117"/>
                  <a:pt x="4933950" y="76202"/>
                </a:cubicBezTo>
                <a:lnTo>
                  <a:pt x="4933950" y="419098"/>
                </a:lnTo>
                <a:cubicBezTo>
                  <a:pt x="4933950" y="461183"/>
                  <a:pt x="4899833" y="495300"/>
                  <a:pt x="4857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5338" y="2971800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ij(n+m)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Σ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ik(n)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p</a:t>
            </a:r>
            <a:r>
              <a:rPr lang="en-US" sz="101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kj(m)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3467100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где p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ij(n)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вероятность перейти из i в j за n шагов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4152900"/>
            <a:ext cx="5600700" cy="2038350"/>
          </a:xfrm>
          <a:custGeom>
            <a:avLst/>
            <a:gdLst/>
            <a:ahLst/>
            <a:cxnLst/>
            <a:rect l="l" t="t" r="r" b="b"/>
            <a:pathLst>
              <a:path w="5600700" h="2038350">
                <a:moveTo>
                  <a:pt x="38100" y="0"/>
                </a:moveTo>
                <a:lnTo>
                  <a:pt x="5486410" y="0"/>
                </a:lnTo>
                <a:cubicBezTo>
                  <a:pt x="5549530" y="0"/>
                  <a:pt x="5600700" y="51170"/>
                  <a:pt x="5600700" y="114290"/>
                </a:cubicBezTo>
                <a:lnTo>
                  <a:pt x="5600700" y="1924060"/>
                </a:lnTo>
                <a:cubicBezTo>
                  <a:pt x="5600700" y="1987180"/>
                  <a:pt x="5549530" y="2038350"/>
                  <a:pt x="5486410" y="2038350"/>
                </a:cubicBezTo>
                <a:lnTo>
                  <a:pt x="38100" y="2038350"/>
                </a:lnTo>
                <a:cubicBezTo>
                  <a:pt x="17072" y="2038350"/>
                  <a:pt x="0" y="2021278"/>
                  <a:pt x="0" y="2000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0050" y="4152900"/>
            <a:ext cx="38100" cy="2038350"/>
          </a:xfrm>
          <a:custGeom>
            <a:avLst/>
            <a:gdLst/>
            <a:ahLst/>
            <a:cxnLst/>
            <a:rect l="l" t="t" r="r" b="b"/>
            <a:pathLst>
              <a:path w="38100" h="2038350">
                <a:moveTo>
                  <a:pt x="38100" y="0"/>
                </a:moveTo>
                <a:lnTo>
                  <a:pt x="38100" y="0"/>
                </a:lnTo>
                <a:lnTo>
                  <a:pt x="38100" y="2038350"/>
                </a:lnTo>
                <a:lnTo>
                  <a:pt x="38100" y="2038350"/>
                </a:lnTo>
                <a:cubicBezTo>
                  <a:pt x="17072" y="2038350"/>
                  <a:pt x="0" y="2021278"/>
                  <a:pt x="0" y="2000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" y="4343400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Полугрупповое свойство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724400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Уравнение выражает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полугрупповое свойство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операторов перехода: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5086350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200650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(n+m)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P</a:t>
            </a: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(n)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P</a:t>
            </a: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(m)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5619750"/>
            <a:ext cx="526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Это позволяет вычислять вероятности перехода на больших интервалах через промежуточные состояния.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181100"/>
            <a:ext cx="5619750" cy="3638550"/>
          </a:xfrm>
          <a:custGeom>
            <a:avLst/>
            <a:gdLst/>
            <a:ahLst/>
            <a:cxnLst/>
            <a:rect l="l" t="t" r="r" b="b"/>
            <a:pathLst>
              <a:path w="5619750" h="3638550">
                <a:moveTo>
                  <a:pt x="114287" y="0"/>
                </a:moveTo>
                <a:lnTo>
                  <a:pt x="5505463" y="0"/>
                </a:lnTo>
                <a:cubicBezTo>
                  <a:pt x="5568582" y="0"/>
                  <a:pt x="5619750" y="51168"/>
                  <a:pt x="5619750" y="114287"/>
                </a:cubicBezTo>
                <a:lnTo>
                  <a:pt x="5619750" y="3524263"/>
                </a:lnTo>
                <a:cubicBezTo>
                  <a:pt x="5619750" y="3587382"/>
                  <a:pt x="5568582" y="3638550"/>
                  <a:pt x="5505463" y="3638550"/>
                </a:cubicBezTo>
                <a:lnTo>
                  <a:pt x="114287" y="3638550"/>
                </a:lnTo>
                <a:cubicBezTo>
                  <a:pt x="51210" y="3638550"/>
                  <a:pt x="0" y="3587340"/>
                  <a:pt x="0" y="3524263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81750" y="1371600"/>
            <a:ext cx="532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Практический смысл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1750" y="1790700"/>
            <a:ext cx="5238750" cy="914400"/>
          </a:xfrm>
          <a:custGeom>
            <a:avLst/>
            <a:gdLst/>
            <a:ahLst/>
            <a:cxnLst/>
            <a:rect l="l" t="t" r="r" b="b"/>
            <a:pathLst>
              <a:path w="5238750" h="914400">
                <a:moveTo>
                  <a:pt x="76197" y="0"/>
                </a:moveTo>
                <a:lnTo>
                  <a:pt x="5162553" y="0"/>
                </a:lnTo>
                <a:cubicBezTo>
                  <a:pt x="5204635" y="0"/>
                  <a:pt x="5238750" y="34115"/>
                  <a:pt x="5238750" y="76197"/>
                </a:cubicBezTo>
                <a:lnTo>
                  <a:pt x="5238750" y="838203"/>
                </a:lnTo>
                <a:cubicBezTo>
                  <a:pt x="5238750" y="880285"/>
                  <a:pt x="5204635" y="914400"/>
                  <a:pt x="51625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96050" y="19050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Декомпозиция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6050" y="2209800"/>
            <a:ext cx="5076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Сложный переход можно разбить на последовательность более простых переходов через промежуточные состояния.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2819400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76198" y="0"/>
                </a:moveTo>
                <a:lnTo>
                  <a:pt x="5162552" y="0"/>
                </a:lnTo>
                <a:cubicBezTo>
                  <a:pt x="5204607" y="0"/>
                  <a:pt x="5238750" y="34143"/>
                  <a:pt x="5238750" y="76198"/>
                </a:cubicBezTo>
                <a:lnTo>
                  <a:pt x="5238750" y="647702"/>
                </a:lnTo>
                <a:cubicBezTo>
                  <a:pt x="5238750" y="689757"/>
                  <a:pt x="5204607" y="723900"/>
                  <a:pt x="51625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6496050" y="293370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Итеративность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6050" y="323850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r>
              <a:rPr lang="en-US" sz="78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(n)</a:t>
            </a: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P</a:t>
            </a:r>
            <a:r>
              <a:rPr lang="en-US" sz="78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n-я степень матрицы переходов даёт вероятности за n шагов.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1750" y="3657600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76198" y="0"/>
                </a:moveTo>
                <a:lnTo>
                  <a:pt x="5162552" y="0"/>
                </a:lnTo>
                <a:cubicBezTo>
                  <a:pt x="5204607" y="0"/>
                  <a:pt x="5238750" y="34143"/>
                  <a:pt x="5238750" y="76198"/>
                </a:cubicBezTo>
                <a:lnTo>
                  <a:pt x="5238750" y="647702"/>
                </a:lnTo>
                <a:cubicBezTo>
                  <a:pt x="5238750" y="689757"/>
                  <a:pt x="5204607" y="723900"/>
                  <a:pt x="51625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6496050" y="3771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Предельный переход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6050" y="407670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 n → ∞ вероятности p</a:t>
            </a:r>
            <a:r>
              <a:rPr lang="en-US" sz="78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ij(n)</a:t>
            </a: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сходятся к стационарному распределению.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250" y="4972050"/>
            <a:ext cx="5619750" cy="1504950"/>
          </a:xfrm>
          <a:custGeom>
            <a:avLst/>
            <a:gdLst/>
            <a:ahLst/>
            <a:cxnLst/>
            <a:rect l="l" t="t" r="r" b="b"/>
            <a:pathLst>
              <a:path w="5619750" h="1504950">
                <a:moveTo>
                  <a:pt x="114301" y="0"/>
                </a:moveTo>
                <a:lnTo>
                  <a:pt x="5505449" y="0"/>
                </a:lnTo>
                <a:cubicBezTo>
                  <a:pt x="5568576" y="0"/>
                  <a:pt x="5619750" y="51174"/>
                  <a:pt x="5619750" y="114301"/>
                </a:cubicBezTo>
                <a:lnTo>
                  <a:pt x="5619750" y="1390649"/>
                </a:lnTo>
                <a:cubicBezTo>
                  <a:pt x="5619750" y="1453776"/>
                  <a:pt x="5568576" y="1504950"/>
                  <a:pt x="55054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81750" y="5162550"/>
            <a:ext cx="532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Историческая справка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1750" y="554355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Уравнения названы в честь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А.Н. Колмогорова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(1903–1987) и </a:t>
            </a:r>
            <a:r>
              <a:rPr lang="en-US" sz="120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С. Чепмена</a:t>
            </a:r>
            <a:r>
              <a:rPr lang="en-US" sz="12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Колмогоров ввёл их в 1931 году для описания диффузионных процессов.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05271" y="514350"/>
            <a:ext cx="50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38150"/>
            <a:ext cx="8429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Пример: поведение пользователя на сайте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89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181100"/>
            <a:ext cx="5619750" cy="4181475"/>
          </a:xfrm>
          <a:custGeom>
            <a:avLst/>
            <a:gdLst/>
            <a:ahLst/>
            <a:cxnLst/>
            <a:rect l="l" t="t" r="r" b="b"/>
            <a:pathLst>
              <a:path w="5619750" h="4181475">
                <a:moveTo>
                  <a:pt x="114280" y="0"/>
                </a:moveTo>
                <a:lnTo>
                  <a:pt x="5505470" y="0"/>
                </a:lnTo>
                <a:cubicBezTo>
                  <a:pt x="5568543" y="0"/>
                  <a:pt x="5619750" y="51207"/>
                  <a:pt x="5619750" y="114280"/>
                </a:cubicBezTo>
                <a:lnTo>
                  <a:pt x="5619750" y="4067195"/>
                </a:lnTo>
                <a:cubicBezTo>
                  <a:pt x="5619750" y="4130310"/>
                  <a:pt x="5568585" y="4181475"/>
                  <a:pt x="5505470" y="4181475"/>
                </a:cubicBezTo>
                <a:lnTo>
                  <a:pt x="114280" y="4181475"/>
                </a:lnTo>
                <a:cubicBezTo>
                  <a:pt x="51207" y="4181475"/>
                  <a:pt x="0" y="4130268"/>
                  <a:pt x="0" y="4067195"/>
                </a:cubicBezTo>
                <a:lnTo>
                  <a:pt x="0" y="114280"/>
                </a:lnTo>
                <a:cubicBezTo>
                  <a:pt x="0" y="51207"/>
                  <a:pt x="51207" y="0"/>
                  <a:pt x="11428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4363" y="1371600"/>
            <a:ext cx="52816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Модель с тремя состояниями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752600"/>
            <a:ext cx="5238750" cy="485775"/>
          </a:xfrm>
          <a:custGeom>
            <a:avLst/>
            <a:gdLst/>
            <a:ahLst/>
            <a:cxnLst/>
            <a:rect l="l" t="t" r="r" b="b"/>
            <a:pathLst>
              <a:path w="5238750" h="485775">
                <a:moveTo>
                  <a:pt x="76199" y="0"/>
                </a:moveTo>
                <a:lnTo>
                  <a:pt x="5162551" y="0"/>
                </a:lnTo>
                <a:cubicBezTo>
                  <a:pt x="5204635" y="0"/>
                  <a:pt x="5238750" y="34115"/>
                  <a:pt x="5238750" y="76199"/>
                </a:cubicBezTo>
                <a:lnTo>
                  <a:pt x="5238750" y="409576"/>
                </a:lnTo>
                <a:cubicBezTo>
                  <a:pt x="5238750" y="451660"/>
                  <a:pt x="5204635" y="485775"/>
                  <a:pt x="516255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7700" y="18430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1" name="Text 9"/>
          <p:cNvSpPr/>
          <p:nvPr/>
        </p:nvSpPr>
        <p:spPr>
          <a:xfrm>
            <a:off x="614363" y="18430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r>
              <a:rPr lang="ru-RU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18288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посещает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" y="2019300"/>
            <a:ext cx="1095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заходит на сайт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2314575"/>
            <a:ext cx="5238750" cy="485775"/>
          </a:xfrm>
          <a:custGeom>
            <a:avLst/>
            <a:gdLst/>
            <a:ahLst/>
            <a:cxnLst/>
            <a:rect l="l" t="t" r="r" b="b"/>
            <a:pathLst>
              <a:path w="5238750" h="485775">
                <a:moveTo>
                  <a:pt x="76199" y="0"/>
                </a:moveTo>
                <a:lnTo>
                  <a:pt x="5162551" y="0"/>
                </a:lnTo>
                <a:cubicBezTo>
                  <a:pt x="5204635" y="0"/>
                  <a:pt x="5238750" y="34115"/>
                  <a:pt x="5238750" y="76199"/>
                </a:cubicBezTo>
                <a:lnTo>
                  <a:pt x="5238750" y="409576"/>
                </a:lnTo>
                <a:cubicBezTo>
                  <a:pt x="5238750" y="451660"/>
                  <a:pt x="5204635" y="485775"/>
                  <a:pt x="516255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700" y="24050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614363" y="240506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r>
              <a:rPr lang="ru-RU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" y="239077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Посещает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2581275"/>
            <a:ext cx="1247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Заходит, но не читает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2876550"/>
            <a:ext cx="5238750" cy="485775"/>
          </a:xfrm>
          <a:custGeom>
            <a:avLst/>
            <a:gdLst/>
            <a:ahLst/>
            <a:cxnLst/>
            <a:rect l="l" t="t" r="r" b="b"/>
            <a:pathLst>
              <a:path w="5238750" h="485775">
                <a:moveTo>
                  <a:pt x="76199" y="0"/>
                </a:moveTo>
                <a:lnTo>
                  <a:pt x="5162551" y="0"/>
                </a:lnTo>
                <a:cubicBezTo>
                  <a:pt x="5204635" y="0"/>
                  <a:pt x="5238750" y="34115"/>
                  <a:pt x="5238750" y="76199"/>
                </a:cubicBezTo>
                <a:lnTo>
                  <a:pt x="5238750" y="409576"/>
                </a:lnTo>
                <a:cubicBezTo>
                  <a:pt x="5238750" y="451660"/>
                  <a:pt x="5204635" y="485775"/>
                  <a:pt x="516255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700" y="29670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1" name="Text 19"/>
          <p:cNvSpPr/>
          <p:nvPr/>
        </p:nvSpPr>
        <p:spPr>
          <a:xfrm>
            <a:off x="614363" y="296703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r>
              <a:rPr lang="ru-RU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295275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Читает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6800" y="3143250"/>
            <a:ext cx="819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Читает статьи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3514725"/>
            <a:ext cx="5238750" cy="1657350"/>
          </a:xfrm>
          <a:custGeom>
            <a:avLst/>
            <a:gdLst/>
            <a:ahLst/>
            <a:cxnLst/>
            <a:rect l="l" t="t" r="r" b="b"/>
            <a:pathLst>
              <a:path w="5238750" h="1657350">
                <a:moveTo>
                  <a:pt x="76205" y="0"/>
                </a:moveTo>
                <a:lnTo>
                  <a:pt x="5162545" y="0"/>
                </a:lnTo>
                <a:cubicBezTo>
                  <a:pt x="5204632" y="0"/>
                  <a:pt x="5238750" y="34118"/>
                  <a:pt x="5238750" y="76205"/>
                </a:cubicBezTo>
                <a:lnTo>
                  <a:pt x="5238750" y="1581145"/>
                </a:lnTo>
                <a:cubicBezTo>
                  <a:pt x="5238750" y="1623232"/>
                  <a:pt x="5204632" y="1657350"/>
                  <a:pt x="5162545" y="1657350"/>
                </a:cubicBezTo>
                <a:lnTo>
                  <a:pt x="76205" y="1657350"/>
                </a:lnTo>
                <a:cubicBezTo>
                  <a:pt x="34118" y="1657350"/>
                  <a:pt x="0" y="1623232"/>
                  <a:pt x="0" y="15811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2902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Матрица переходов P: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723484"/>
              </p:ext>
            </p:extLst>
          </p:nvPr>
        </p:nvGraphicFramePr>
        <p:xfrm>
          <a:off x="2362200" y="3635063"/>
          <a:ext cx="2055400" cy="1460500"/>
        </p:xfrm>
        <a:graphic>
          <a:graphicData uri="http://schemas.openxmlformats.org/drawingml/2006/table">
            <a:tbl>
              <a:tblPr/>
              <a:tblGrid>
                <a:gridCol w="427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</a:t>
                      </a:r>
                      <a:r>
                        <a:rPr lang="ru-RU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</a:t>
                      </a:r>
                      <a:r>
                        <a:rPr lang="ru-RU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S</a:t>
                      </a:r>
                      <a:r>
                        <a:rPr lang="ru-RU" sz="10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S</a:t>
                      </a:r>
                      <a:r>
                        <a:rPr lang="ru-RU" sz="10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S</a:t>
                      </a:r>
                      <a:r>
                        <a:rPr lang="ru-RU" sz="10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S</a:t>
                      </a:r>
                      <a:r>
                        <a:rPr lang="ru-RU" sz="1000" b="1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02A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38100" marB="38100" anchor="ctr">
                    <a:lnL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381000" y="5514975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114295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876305"/>
                </a:lnTo>
                <a:cubicBezTo>
                  <a:pt x="5619750" y="939386"/>
                  <a:pt x="5568536" y="990600"/>
                  <a:pt x="550545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9" name="Text 26"/>
          <p:cNvSpPr/>
          <p:nvPr/>
        </p:nvSpPr>
        <p:spPr>
          <a:xfrm>
            <a:off x="533400" y="5667375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Интерпретация вероятностей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33400" y="5972175"/>
            <a:ext cx="538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Например, p</a:t>
            </a:r>
            <a:r>
              <a:rPr lang="en-US" sz="788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NV</a:t>
            </a: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0.3 означает, что с вероятностью 30% пользователь, который сегодня не посещал сайт, завтра зайдёт на него.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91250" y="1181100"/>
            <a:ext cx="5619750" cy="4095750"/>
          </a:xfrm>
          <a:custGeom>
            <a:avLst/>
            <a:gdLst/>
            <a:ahLst/>
            <a:cxnLst/>
            <a:rect l="l" t="t" r="r" b="b"/>
            <a:pathLst>
              <a:path w="5619750" h="4095750">
                <a:moveTo>
                  <a:pt x="114312" y="0"/>
                </a:moveTo>
                <a:lnTo>
                  <a:pt x="5505438" y="0"/>
                </a:lnTo>
                <a:cubicBezTo>
                  <a:pt x="5568571" y="0"/>
                  <a:pt x="5619750" y="51179"/>
                  <a:pt x="5619750" y="114312"/>
                </a:cubicBezTo>
                <a:lnTo>
                  <a:pt x="5619750" y="3981438"/>
                </a:lnTo>
                <a:cubicBezTo>
                  <a:pt x="5619750" y="4044571"/>
                  <a:pt x="5568571" y="4095750"/>
                  <a:pt x="5505438" y="4095750"/>
                </a:cubicBezTo>
                <a:lnTo>
                  <a:pt x="114312" y="4095750"/>
                </a:lnTo>
                <a:cubicBezTo>
                  <a:pt x="51179" y="4095750"/>
                  <a:pt x="0" y="4044571"/>
                  <a:pt x="0" y="3981438"/>
                </a:cubicBezTo>
                <a:lnTo>
                  <a:pt x="0" y="114312"/>
                </a:lnTo>
                <a:cubicBezTo>
                  <a:pt x="0" y="51179"/>
                  <a:pt x="51179" y="0"/>
                  <a:pt x="1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381750" y="1371600"/>
            <a:ext cx="532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Расчёт стационарного распределения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81750" y="1752600"/>
            <a:ext cx="5305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Решаем систему уравнений π = πP с условием нормировки: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81750" y="2076450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266701"/>
                </a:lnTo>
                <a:cubicBezTo>
                  <a:pt x="5238750" y="308784"/>
                  <a:pt x="5204634" y="342900"/>
                  <a:pt x="51625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457950" y="215265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0.6π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+ 0.4π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+ 0.2π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81750" y="2495550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266701"/>
                </a:lnTo>
                <a:cubicBezTo>
                  <a:pt x="5238750" y="308784"/>
                  <a:pt x="5204634" y="342900"/>
                  <a:pt x="51625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457950" y="257175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0.3π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+ 0.4π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+ 0.3π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81750" y="2914650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266701"/>
                </a:lnTo>
                <a:cubicBezTo>
                  <a:pt x="5238750" y="308784"/>
                  <a:pt x="5204634" y="342900"/>
                  <a:pt x="51625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6457950" y="299085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0.1π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+ 0.2π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+ 0.5π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81750" y="3333750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266701"/>
                </a:lnTo>
                <a:cubicBezTo>
                  <a:pt x="5238750" y="308784"/>
                  <a:pt x="5204634" y="342900"/>
                  <a:pt x="51625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457950" y="340995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π</a:t>
            </a:r>
            <a:r>
              <a:rPr lang="en-US" sz="78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1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81750" y="3790950"/>
            <a:ext cx="5238750" cy="1295400"/>
          </a:xfrm>
          <a:custGeom>
            <a:avLst/>
            <a:gdLst/>
            <a:ahLst/>
            <a:cxnLst/>
            <a:rect l="l" t="t" r="r" b="b"/>
            <a:pathLst>
              <a:path w="5238750" h="1295400">
                <a:moveTo>
                  <a:pt x="76195" y="0"/>
                </a:moveTo>
                <a:lnTo>
                  <a:pt x="5162555" y="0"/>
                </a:lnTo>
                <a:cubicBezTo>
                  <a:pt x="5204608" y="0"/>
                  <a:pt x="5238750" y="34142"/>
                  <a:pt x="5238750" y="76195"/>
                </a:cubicBezTo>
                <a:lnTo>
                  <a:pt x="5238750" y="1219205"/>
                </a:lnTo>
                <a:cubicBezTo>
                  <a:pt x="5238750" y="1261286"/>
                  <a:pt x="5204636" y="1295400"/>
                  <a:pt x="516255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496050" y="3905250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Решение: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496050" y="4219575"/>
            <a:ext cx="14729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</a:t>
            </a: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0.444 (44.4%)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96050" y="4486275"/>
            <a:ext cx="14571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</a:t>
            </a: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0.370 (37.0%)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496050" y="4752975"/>
            <a:ext cx="14172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π</a:t>
            </a: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0.185 (18.5%)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191250" y="5429250"/>
            <a:ext cx="5619750" cy="1257300"/>
          </a:xfrm>
          <a:custGeom>
            <a:avLst/>
            <a:gdLst/>
            <a:ahLst/>
            <a:cxnLst/>
            <a:rect l="l" t="t" r="r" b="b"/>
            <a:pathLst>
              <a:path w="5619750" h="1257300">
                <a:moveTo>
                  <a:pt x="114301" y="0"/>
                </a:moveTo>
                <a:lnTo>
                  <a:pt x="5505449" y="0"/>
                </a:lnTo>
                <a:cubicBezTo>
                  <a:pt x="5568533" y="0"/>
                  <a:pt x="5619750" y="51217"/>
                  <a:pt x="5619750" y="114301"/>
                </a:cubicBezTo>
                <a:lnTo>
                  <a:pt x="5619750" y="1142999"/>
                </a:lnTo>
                <a:cubicBezTo>
                  <a:pt x="5619750" y="1206083"/>
                  <a:pt x="5568533" y="1257300"/>
                  <a:pt x="550544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534150" y="5581650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Интерпретация результатов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343650" y="588645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В долгосрочной перспективе </a:t>
            </a: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44.4%</a:t>
            </a: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пользователей не посещают сайт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343650" y="611505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37.0%</a:t>
            </a: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заходят, но не читают статьи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343650" y="634365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50" b="1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18.5%</a:t>
            </a:r>
            <a:r>
              <a:rPr lang="en-US" sz="105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активно читают контент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06164" y="514350"/>
            <a:ext cx="50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38150"/>
            <a:ext cx="716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Применение марковских процессов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89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181100"/>
            <a:ext cx="5619750" cy="2295525"/>
          </a:xfrm>
          <a:custGeom>
            <a:avLst/>
            <a:gdLst/>
            <a:ahLst/>
            <a:cxnLst/>
            <a:rect l="l" t="t" r="r" b="b"/>
            <a:pathLst>
              <a:path w="5619750" h="2295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2181231"/>
                </a:lnTo>
                <a:cubicBezTo>
                  <a:pt x="5619750" y="2244354"/>
                  <a:pt x="5568579" y="2295525"/>
                  <a:pt x="5505456" y="2295525"/>
                </a:cubicBezTo>
                <a:lnTo>
                  <a:pt x="38100" y="2295525"/>
                </a:lnTo>
                <a:cubicBezTo>
                  <a:pt x="17072" y="2295525"/>
                  <a:pt x="0" y="2278453"/>
                  <a:pt x="0" y="2257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7" name="Shape 5"/>
          <p:cNvSpPr/>
          <p:nvPr/>
        </p:nvSpPr>
        <p:spPr>
          <a:xfrm>
            <a:off x="400050" y="1181100"/>
            <a:ext cx="38100" cy="2295525"/>
          </a:xfrm>
          <a:custGeom>
            <a:avLst/>
            <a:gdLst/>
            <a:ahLst/>
            <a:cxnLst/>
            <a:rect l="l" t="t" r="r" b="b"/>
            <a:pathLst>
              <a:path w="38100" h="2295525">
                <a:moveTo>
                  <a:pt x="38100" y="0"/>
                </a:moveTo>
                <a:lnTo>
                  <a:pt x="38100" y="0"/>
                </a:lnTo>
                <a:lnTo>
                  <a:pt x="38100" y="2295525"/>
                </a:lnTo>
                <a:lnTo>
                  <a:pt x="38100" y="2295525"/>
                </a:lnTo>
                <a:cubicBezTo>
                  <a:pt x="17072" y="2295525"/>
                  <a:pt x="0" y="2278453"/>
                  <a:pt x="0" y="2257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" y="13335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и веб-аналитика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1714500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" y="17907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Алгоритм PageRank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1981200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Ранжирование веб-страниц в Google на основе случайного блуждания по ссылкам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276475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00" y="2352675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Моделирование поведения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" y="2543175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 путей пользователей на сайте, оптимизация конверсии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2838450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7700" y="29146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Рекомендательные системы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3105150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Предсказание следующих действий пользователя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629025"/>
            <a:ext cx="5619750" cy="2295525"/>
          </a:xfrm>
          <a:custGeom>
            <a:avLst/>
            <a:gdLst/>
            <a:ahLst/>
            <a:cxnLst/>
            <a:rect l="l" t="t" r="r" b="b"/>
            <a:pathLst>
              <a:path w="5619750" h="2295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2181231"/>
                </a:lnTo>
                <a:cubicBezTo>
                  <a:pt x="5619750" y="2244354"/>
                  <a:pt x="5568579" y="2295525"/>
                  <a:pt x="5505456" y="2295525"/>
                </a:cubicBezTo>
                <a:lnTo>
                  <a:pt x="38100" y="2295525"/>
                </a:lnTo>
                <a:cubicBezTo>
                  <a:pt x="17072" y="2295525"/>
                  <a:pt x="0" y="2278453"/>
                  <a:pt x="0" y="2257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0050" y="3629025"/>
            <a:ext cx="38100" cy="2295525"/>
          </a:xfrm>
          <a:custGeom>
            <a:avLst/>
            <a:gdLst/>
            <a:ahLst/>
            <a:cxnLst/>
            <a:rect l="l" t="t" r="r" b="b"/>
            <a:pathLst>
              <a:path w="38100" h="2295525">
                <a:moveTo>
                  <a:pt x="38100" y="0"/>
                </a:moveTo>
                <a:lnTo>
                  <a:pt x="38100" y="0"/>
                </a:lnTo>
                <a:lnTo>
                  <a:pt x="38100" y="2295525"/>
                </a:lnTo>
                <a:lnTo>
                  <a:pt x="38100" y="2295525"/>
                </a:lnTo>
                <a:cubicBezTo>
                  <a:pt x="17072" y="2295525"/>
                  <a:pt x="0" y="2278453"/>
                  <a:pt x="0" y="2257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2" name="Text 20"/>
          <p:cNvSpPr/>
          <p:nvPr/>
        </p:nvSpPr>
        <p:spPr>
          <a:xfrm>
            <a:off x="590550" y="3781425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Экономика и финансы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" y="4162425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7700" y="4238625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Задача о разорении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7700" y="4429125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Моделирование капитала игрока, оценка риска банкротства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" y="4724400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7700" y="48006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Кредитные рейтинги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700" y="4991100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Миграция рейтингов компаний, оценка вероятности дефолта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" y="5286375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7700" y="5362575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Рыночные режимы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700" y="5553075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Моделирование смены фаз рынка (бычий/медвежий)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1181100"/>
            <a:ext cx="5619750" cy="2295525"/>
          </a:xfrm>
          <a:custGeom>
            <a:avLst/>
            <a:gdLst/>
            <a:ahLst/>
            <a:cxnLst/>
            <a:rect l="l" t="t" r="r" b="b"/>
            <a:pathLst>
              <a:path w="5619750" h="2295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2181231"/>
                </a:lnTo>
                <a:cubicBezTo>
                  <a:pt x="5619750" y="2244354"/>
                  <a:pt x="5568579" y="2295525"/>
                  <a:pt x="5505456" y="2295525"/>
                </a:cubicBezTo>
                <a:lnTo>
                  <a:pt x="38100" y="2295525"/>
                </a:lnTo>
                <a:cubicBezTo>
                  <a:pt x="17072" y="2295525"/>
                  <a:pt x="0" y="2278453"/>
                  <a:pt x="0" y="2257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91250" y="1181100"/>
            <a:ext cx="38100" cy="2295525"/>
          </a:xfrm>
          <a:custGeom>
            <a:avLst/>
            <a:gdLst/>
            <a:ahLst/>
            <a:cxnLst/>
            <a:rect l="l" t="t" r="r" b="b"/>
            <a:pathLst>
              <a:path w="38100" h="2295525">
                <a:moveTo>
                  <a:pt x="38100" y="0"/>
                </a:moveTo>
                <a:lnTo>
                  <a:pt x="38100" y="0"/>
                </a:lnTo>
                <a:lnTo>
                  <a:pt x="38100" y="2295525"/>
                </a:lnTo>
                <a:lnTo>
                  <a:pt x="38100" y="2295525"/>
                </a:lnTo>
                <a:cubicBezTo>
                  <a:pt x="17072" y="2295525"/>
                  <a:pt x="0" y="2278453"/>
                  <a:pt x="0" y="2257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1333500"/>
            <a:ext cx="534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Надёжность систем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2700" y="1714500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6438900" y="17907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Моделирование отказов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38900" y="1981200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Последовательности отказов и восстановлений в технических системах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2700" y="2276475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6438900" y="2352675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Оценка времени безотказной работы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38900" y="2543175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Расчёт вероятности работоспособности системы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2700" y="2838450"/>
            <a:ext cx="5295900" cy="485775"/>
          </a:xfrm>
          <a:custGeom>
            <a:avLst/>
            <a:gdLst/>
            <a:ahLst/>
            <a:cxnLst/>
            <a:rect l="l" t="t" r="r" b="b"/>
            <a:pathLst>
              <a:path w="5295900" h="485775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409576"/>
                </a:lnTo>
                <a:cubicBezTo>
                  <a:pt x="5295900" y="451660"/>
                  <a:pt x="5261785" y="485775"/>
                  <a:pt x="52197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6438900" y="29146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Резервирование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8900" y="3105150"/>
            <a:ext cx="5200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Оптимизация стратегий резервирования оборудования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2200" y="3629025"/>
            <a:ext cx="5638800" cy="2857500"/>
          </a:xfrm>
          <a:custGeom>
            <a:avLst/>
            <a:gdLst/>
            <a:ahLst/>
            <a:cxnLst/>
            <a:rect l="l" t="t" r="r" b="b"/>
            <a:pathLst>
              <a:path w="5638800" h="2857500">
                <a:moveTo>
                  <a:pt x="114300" y="0"/>
                </a:moveTo>
                <a:lnTo>
                  <a:pt x="5524500" y="0"/>
                </a:lnTo>
                <a:cubicBezTo>
                  <a:pt x="5587584" y="0"/>
                  <a:pt x="5638800" y="51216"/>
                  <a:pt x="5638800" y="114300"/>
                </a:cubicBezTo>
                <a:lnTo>
                  <a:pt x="5638800" y="2743200"/>
                </a:lnTo>
                <a:cubicBezTo>
                  <a:pt x="5638800" y="2806284"/>
                  <a:pt x="5587584" y="2857500"/>
                  <a:pt x="5524500" y="2857500"/>
                </a:cubicBezTo>
                <a:lnTo>
                  <a:pt x="114300" y="2857500"/>
                </a:lnTo>
                <a:cubicBezTo>
                  <a:pt x="51216" y="2857500"/>
                  <a:pt x="0" y="2806284"/>
                  <a:pt x="0" y="2743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47" name="Text 45"/>
          <p:cNvSpPr/>
          <p:nvPr/>
        </p:nvSpPr>
        <p:spPr>
          <a:xfrm>
            <a:off x="6362700" y="37814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Машинное обучение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4162425"/>
            <a:ext cx="5334000" cy="485775"/>
          </a:xfrm>
          <a:custGeom>
            <a:avLst/>
            <a:gdLst/>
            <a:ahLst/>
            <a:cxnLst/>
            <a:rect l="l" t="t" r="r" b="b"/>
            <a:pathLst>
              <a:path w="5334000" h="485775">
                <a:moveTo>
                  <a:pt x="76199" y="0"/>
                </a:moveTo>
                <a:lnTo>
                  <a:pt x="5257801" y="0"/>
                </a:lnTo>
                <a:cubicBezTo>
                  <a:pt x="5299885" y="0"/>
                  <a:pt x="5334000" y="34115"/>
                  <a:pt x="5334000" y="76199"/>
                </a:cubicBezTo>
                <a:lnTo>
                  <a:pt x="5334000" y="409576"/>
                </a:lnTo>
                <a:cubicBezTo>
                  <a:pt x="5334000" y="451660"/>
                  <a:pt x="5299885" y="485775"/>
                  <a:pt x="52578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238625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Скрытые марковские модели (HMM)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00800" y="4429125"/>
            <a:ext cx="523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Распознавание речи, обработка естественного языка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600" y="4724400"/>
            <a:ext cx="5334000" cy="485775"/>
          </a:xfrm>
          <a:custGeom>
            <a:avLst/>
            <a:gdLst/>
            <a:ahLst/>
            <a:cxnLst/>
            <a:rect l="l" t="t" r="r" b="b"/>
            <a:pathLst>
              <a:path w="5334000" h="485775">
                <a:moveTo>
                  <a:pt x="76199" y="0"/>
                </a:moveTo>
                <a:lnTo>
                  <a:pt x="5257801" y="0"/>
                </a:lnTo>
                <a:cubicBezTo>
                  <a:pt x="5299885" y="0"/>
                  <a:pt x="5334000" y="34115"/>
                  <a:pt x="5334000" y="76199"/>
                </a:cubicBezTo>
                <a:lnTo>
                  <a:pt x="5334000" y="409576"/>
                </a:lnTo>
                <a:cubicBezTo>
                  <a:pt x="5334000" y="451660"/>
                  <a:pt x="5299885" y="485775"/>
                  <a:pt x="52578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0" y="4800600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Марковские случайные поля (MRF)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00800" y="4991100"/>
            <a:ext cx="523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Компьютерное зрение, сегментация изображений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600" y="5286375"/>
            <a:ext cx="5334000" cy="485775"/>
          </a:xfrm>
          <a:custGeom>
            <a:avLst/>
            <a:gdLst/>
            <a:ahLst/>
            <a:cxnLst/>
            <a:rect l="l" t="t" r="r" b="b"/>
            <a:pathLst>
              <a:path w="5334000" h="485775">
                <a:moveTo>
                  <a:pt x="76199" y="0"/>
                </a:moveTo>
                <a:lnTo>
                  <a:pt x="5257801" y="0"/>
                </a:lnTo>
                <a:cubicBezTo>
                  <a:pt x="5299885" y="0"/>
                  <a:pt x="5334000" y="34115"/>
                  <a:pt x="5334000" y="76199"/>
                </a:cubicBezTo>
                <a:lnTo>
                  <a:pt x="5334000" y="409576"/>
                </a:lnTo>
                <a:cubicBezTo>
                  <a:pt x="5334000" y="451660"/>
                  <a:pt x="5299885" y="485775"/>
                  <a:pt x="52578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5362575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Процессы принятия решений (MDP)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00800" y="5553075"/>
            <a:ext cx="523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Обучение с подкреплением, оптимальное управление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5848350"/>
            <a:ext cx="5334000" cy="485775"/>
          </a:xfrm>
          <a:custGeom>
            <a:avLst/>
            <a:gdLst/>
            <a:ahLst/>
            <a:cxnLst/>
            <a:rect l="l" t="t" r="r" b="b"/>
            <a:pathLst>
              <a:path w="5334000" h="485775">
                <a:moveTo>
                  <a:pt x="76199" y="0"/>
                </a:moveTo>
                <a:lnTo>
                  <a:pt x="5257801" y="0"/>
                </a:lnTo>
                <a:cubicBezTo>
                  <a:pt x="5299885" y="0"/>
                  <a:pt x="5334000" y="34115"/>
                  <a:pt x="5334000" y="76199"/>
                </a:cubicBezTo>
                <a:lnTo>
                  <a:pt x="5334000" y="409576"/>
                </a:lnTo>
                <a:cubicBezTo>
                  <a:pt x="5334000" y="451660"/>
                  <a:pt x="5299885" y="485775"/>
                  <a:pt x="5257801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5924550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MCMC методы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00800" y="6115050"/>
            <a:ext cx="5238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Байесовская статистика, генерация случайных выборок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65D">
                  <a:alpha val="95000"/>
                </a:srgbClr>
              </a:gs>
              <a:gs pos="50000">
                <a:srgbClr val="2B6CB0">
                  <a:alpha val="90000"/>
                </a:srgbClr>
              </a:gs>
              <a:gs pos="100000">
                <a:srgbClr val="4299E1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752475"/>
            <a:ext cx="1781175" cy="419100"/>
          </a:xfrm>
          <a:custGeom>
            <a:avLst/>
            <a:gdLst/>
            <a:ahLst/>
            <a:cxnLst/>
            <a:rect l="l" t="t" r="r" b="b"/>
            <a:pathLst>
              <a:path w="1781175" h="419100">
                <a:moveTo>
                  <a:pt x="209550" y="0"/>
                </a:moveTo>
                <a:lnTo>
                  <a:pt x="1571625" y="0"/>
                </a:lnTo>
                <a:cubicBezTo>
                  <a:pt x="1687279" y="0"/>
                  <a:pt x="1781175" y="93896"/>
                  <a:pt x="1781175" y="209550"/>
                </a:cubicBezTo>
                <a:lnTo>
                  <a:pt x="1781175" y="209550"/>
                </a:lnTo>
                <a:cubicBezTo>
                  <a:pt x="1781175" y="325204"/>
                  <a:pt x="1687279" y="419100"/>
                  <a:pt x="157162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828675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400175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Выводы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2395538"/>
            <a:ext cx="5610225" cy="1914525"/>
          </a:xfrm>
          <a:custGeom>
            <a:avLst/>
            <a:gdLst/>
            <a:ahLst/>
            <a:cxnLst/>
            <a:rect l="l" t="t" r="r" b="b"/>
            <a:pathLst>
              <a:path w="5610225" h="1914525">
                <a:moveTo>
                  <a:pt x="114297" y="0"/>
                </a:moveTo>
                <a:lnTo>
                  <a:pt x="5495928" y="0"/>
                </a:lnTo>
                <a:cubicBezTo>
                  <a:pt x="5559010" y="0"/>
                  <a:pt x="5610225" y="51215"/>
                  <a:pt x="5610225" y="114297"/>
                </a:cubicBezTo>
                <a:lnTo>
                  <a:pt x="5610225" y="1800228"/>
                </a:lnTo>
                <a:cubicBezTo>
                  <a:pt x="5610225" y="1863310"/>
                  <a:pt x="5559010" y="1914525"/>
                  <a:pt x="549592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6775" y="25908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преимущества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8175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47725" y="2971800"/>
            <a:ext cx="432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Простота анализа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наглядное графовое представление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8175" y="3314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7725" y="3276600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Отсутствие памяти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упрощает моделирование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8175" y="3619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47725" y="3581400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Предсказуемость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стационарные распределения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8175" y="3924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7725" y="3886200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Универсальность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применение в разных областях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96013" y="2395538"/>
            <a:ext cx="5610225" cy="1914525"/>
          </a:xfrm>
          <a:custGeom>
            <a:avLst/>
            <a:gdLst/>
            <a:ahLst/>
            <a:cxnLst/>
            <a:rect l="l" t="t" r="r" b="b"/>
            <a:pathLst>
              <a:path w="5610225" h="1914525">
                <a:moveTo>
                  <a:pt x="114297" y="0"/>
                </a:moveTo>
                <a:lnTo>
                  <a:pt x="5495928" y="0"/>
                </a:lnTo>
                <a:cubicBezTo>
                  <a:pt x="5559010" y="0"/>
                  <a:pt x="5610225" y="51215"/>
                  <a:pt x="5610225" y="114297"/>
                </a:cubicBezTo>
                <a:lnTo>
                  <a:pt x="5610225" y="1800228"/>
                </a:lnTo>
                <a:cubicBezTo>
                  <a:pt x="5610225" y="1863310"/>
                  <a:pt x="5559010" y="1914525"/>
                  <a:pt x="549592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7025" y="25908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Практическая ценность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48425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657975" y="29718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PageRank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основа поиска Google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48425" y="3314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657975" y="32766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HMM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распознавание речи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48425" y="3619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657975" y="358140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Надёжность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оценка систем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48425" y="3924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657975" y="388620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Финансы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управление рисками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85763" y="4624388"/>
            <a:ext cx="11420475" cy="942975"/>
          </a:xfrm>
          <a:custGeom>
            <a:avLst/>
            <a:gdLst/>
            <a:ahLst/>
            <a:cxnLst/>
            <a:rect l="l" t="t" r="r" b="b"/>
            <a:pathLst>
              <a:path w="11420475" h="94297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828677"/>
                </a:lnTo>
                <a:cubicBezTo>
                  <a:pt x="11420475" y="891760"/>
                  <a:pt x="11369260" y="942975"/>
                  <a:pt x="11306177" y="942975"/>
                </a:cubicBezTo>
                <a:lnTo>
                  <a:pt x="114298" y="942975"/>
                </a:lnTo>
                <a:cubicBezTo>
                  <a:pt x="51215" y="942975"/>
                  <a:pt x="0" y="891760"/>
                  <a:pt x="0" y="8286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55787" y="48768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1" name="Text 28"/>
          <p:cNvSpPr/>
          <p:nvPr/>
        </p:nvSpPr>
        <p:spPr>
          <a:xfrm>
            <a:off x="814388" y="4819650"/>
            <a:ext cx="10839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Марковские процессы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мощный математический аппарат для моделирования случайных систем. Их элегантность и универсальность делают их незаменимым инструментом в современной науке и технологиях.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743623" y="581977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МГТУ им. Н.Э.Баумана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807273" y="5800725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096000" y="5838825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Пермяков Дмитрий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1530</Words>
  <Application>Microsoft Macintosh PowerPoint</Application>
  <PresentationFormat>Широкоэкранный</PresentationFormat>
  <Paragraphs>273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Quattrocento Sans</vt:lpstr>
      <vt:lpstr>Arial</vt:lpstr>
      <vt:lpstr>MiSans</vt:lpstr>
      <vt:lpstr>微软雅黑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Пермяков Дмитрий</dc:creator>
  <cp:keywords/>
  <dc:description/>
  <cp:lastModifiedBy>Dmitriy Permyakov</cp:lastModifiedBy>
  <cp:revision>7</cp:revision>
  <dcterms:created xsi:type="dcterms:W3CDTF">2026-04-16T18:41:11Z</dcterms:created>
  <dcterms:modified xsi:type="dcterms:W3CDTF">2026-04-16T19:10:53Z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{"Label":"Марковские процессы и их применение в моделировании случайных систем","ContentProducer":"001191110108MACG2KBH8F10000","ProduceID":"19d978c5-aaf2-80cf-8000-00009f1245be","ReservedCode1":"","ContentPropagator":"001191110108MACG2KBH8F20000","PropagateID":"19d978c5-aaf2-80cf-8000-00009f1245be","ReservedCode2":""}</vt:lpwstr>
  </property>
</Properties>
</file>